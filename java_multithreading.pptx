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tr-T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Slaytı taşımak için tıklayın</a:t>
            </a:r>
            <a:endParaRPr lang="tr-T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Notların biçimini düzenlemek için tıklayın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94FB653-31EF-4C68-A708-DCE0768EE636}" type="slidenum"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47F595-C01B-423C-AD21-6D50283527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8B4AC7-7FA3-4235-9375-E0A9E4E716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9D03F0-6865-422E-8A2F-28DCC77019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2D61A9-1352-4874-9948-81312D5B8B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E3AF76-63C9-4A65-BD22-511FDE85CB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E3F10E-12DA-4750-8B41-86FE839AF3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5C57A1-40DB-4167-B891-2EAF06DD20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DC54FB-163A-49D8-8F4C-67B7B45883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193EAC-2B35-4350-835C-58CE95DCDB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1ECD30-3107-4CD8-808E-C521D4C7E4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E5A357-41B0-4C84-A3B3-6669653805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D12F68-19CA-44E9-8ACE-EFAB17258A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16D178-4FC7-4E3A-803D-F4E474BF04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6606D6-D5CD-4988-A78A-9F9DE7643A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2A1E23-B169-4BEC-BECC-A890F3A1C7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D0D17D-4512-47FA-AA9E-F95204F80C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0F02C0-F895-4839-8378-724A46296A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CF7ECE-63EE-4663-8FA8-38C26DD39C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9C1275-C74E-4E0D-9515-6581003C55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14FAF4-F076-49AC-ADB7-494226F652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FB2F8C-4AC7-41B3-A0F7-BFB2353295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57D89F-43BF-42AF-A29A-0EDF9BA133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4FBC7C-4010-4674-858F-E491AB5BCE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5FAF38-CB28-430E-9F54-E4F405CEF4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A739FB-710A-41CF-A697-6360D45309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4E7B08-61B2-40DE-9D0F-9EECEF16C1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16172C-329C-47D2-BE74-DD52CADF4B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134E4B-A6DA-457A-ABB2-81C16F987C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5D44AE-D13B-46CC-ACFD-AF81A5825E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00ECB9-8230-493A-A031-372989FF1E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009905-7EC5-450B-8195-A9FA8CEE27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9EAE4A-BBE6-4EF2-9E9E-5CD90B9D5C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032E93-1476-466C-9613-E16457E205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3A63D5-79CD-440B-9A83-14D7CE0367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42BFF0-5CA9-4C63-AFF2-A95BD4B5A4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BB9672-EA68-4ECD-B401-ED0C1A5FB3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CFA133-1A70-4FFD-99C8-BE481DCEFB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A0D456-00E2-4B8C-97C4-9D527ECF83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DA31E9-0DCA-4908-BA58-B4F863CF5B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19147B-2EB5-44C4-8C7C-2E3F898B2A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tr-T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tr-T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 başlık metnini düzenlemek için tıklayın</a:t>
            </a:r>
            <a:endParaRPr lang="tr-T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tr-T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Anahat metninin biçimini düzenlemek için tıklayın</a:t>
            </a:r>
            <a:endParaRPr lang="tr-T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İkinci Anahat Düzeyi</a:t>
            </a:r>
            <a:endParaRPr lang="tr-T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Üçüncü Anahat Düzeyi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Dördüncü Anahat Düzeyi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Beşinci Anahat Düzeyi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Altıncı Anahat Düzeyi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Yedinci Anahat Düzeyi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5074920"/>
            <a:ext cx="9143640" cy="63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320040" y="365760"/>
            <a:ext cx="54360" cy="43887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94360" y="1097280"/>
            <a:ext cx="80463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Java Multithreading</a:t>
            </a:r>
            <a:endParaRPr lang="tr-T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94360" y="2697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0" y="480060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Java Multithreading | Kurumsal Eğitim Serisi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İçindekiler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320040" y="822960"/>
            <a:ext cx="420588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320040" y="822960"/>
            <a:ext cx="63720" cy="8226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484560" y="89604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1. Temel Kavramlar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484560" y="120708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Multithreading, Sıralı Yürütme, Thread Oluşturma</a:t>
            </a:r>
            <a:endParaRPr lang="tr-T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320040" y="1828800"/>
            <a:ext cx="420588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320040" y="1828800"/>
            <a:ext cx="63720" cy="8226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484560" y="19018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2. Thread Yönetimi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484560" y="221292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Join, Daemon Thread, Öncelik</a:t>
            </a:r>
            <a:endParaRPr lang="tr-T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320040" y="2834640"/>
            <a:ext cx="420588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320040" y="2834640"/>
            <a:ext cx="63720" cy="8226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484560" y="290772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3. Senkronizasyon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484560" y="321876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Synchronized Bloklar, Wait/Notify, Producer-Consumer</a:t>
            </a:r>
            <a:endParaRPr lang="tr-T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7"/>
          <p:cNvSpPr/>
          <p:nvPr/>
        </p:nvSpPr>
        <p:spPr>
          <a:xfrm>
            <a:off x="320040" y="3840480"/>
            <a:ext cx="420588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320040" y="3840480"/>
            <a:ext cx="63720" cy="8226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484560" y="391356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4. Executor Servisi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0"/>
          <p:cNvSpPr/>
          <p:nvPr/>
        </p:nvSpPr>
        <p:spPr>
          <a:xfrm>
            <a:off x="484560" y="422460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Single/Fixed/Cached/Scheduled Thread Pool</a:t>
            </a:r>
            <a:endParaRPr lang="tr-T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1"/>
          <p:cNvSpPr/>
          <p:nvPr/>
        </p:nvSpPr>
        <p:spPr>
          <a:xfrm>
            <a:off x="4709160" y="822960"/>
            <a:ext cx="420588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2"/>
          <p:cNvSpPr/>
          <p:nvPr/>
        </p:nvSpPr>
        <p:spPr>
          <a:xfrm>
            <a:off x="4709160" y="822960"/>
            <a:ext cx="63720" cy="8226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3"/>
          <p:cNvSpPr/>
          <p:nvPr/>
        </p:nvSpPr>
        <p:spPr>
          <a:xfrm>
            <a:off x="4873680" y="89604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5. İleri Yapılar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4"/>
          <p:cNvSpPr/>
          <p:nvPr/>
        </p:nvSpPr>
        <p:spPr>
          <a:xfrm>
            <a:off x="4873680" y="120708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Callable, Future, Senkronize Koleksiyonlar</a:t>
            </a:r>
            <a:endParaRPr lang="tr-T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5"/>
          <p:cNvSpPr/>
          <p:nvPr/>
        </p:nvSpPr>
        <p:spPr>
          <a:xfrm>
            <a:off x="4709160" y="1828800"/>
            <a:ext cx="420588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6"/>
          <p:cNvSpPr/>
          <p:nvPr/>
        </p:nvSpPr>
        <p:spPr>
          <a:xfrm>
            <a:off x="4709160" y="1828800"/>
            <a:ext cx="63720" cy="8226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7"/>
          <p:cNvSpPr/>
          <p:nvPr/>
        </p:nvSpPr>
        <p:spPr>
          <a:xfrm>
            <a:off x="4873680" y="19018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6. Kilit Mekanizmaları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8"/>
          <p:cNvSpPr/>
          <p:nvPr/>
        </p:nvSpPr>
        <p:spPr>
          <a:xfrm>
            <a:off x="4873680" y="221292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Locks, ReentrantLock, ReadWriteLock</a:t>
            </a:r>
            <a:endParaRPr lang="tr-T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9"/>
          <p:cNvSpPr/>
          <p:nvPr/>
        </p:nvSpPr>
        <p:spPr>
          <a:xfrm>
            <a:off x="4709160" y="2834640"/>
            <a:ext cx="420588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0"/>
          <p:cNvSpPr/>
          <p:nvPr/>
        </p:nvSpPr>
        <p:spPr>
          <a:xfrm>
            <a:off x="4709160" y="2834640"/>
            <a:ext cx="63720" cy="8226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1"/>
          <p:cNvSpPr/>
          <p:nvPr/>
        </p:nvSpPr>
        <p:spPr>
          <a:xfrm>
            <a:off x="4873680" y="290772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7. Eşzamanlılık Sorunları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2"/>
          <p:cNvSpPr/>
          <p:nvPr/>
        </p:nvSpPr>
        <p:spPr>
          <a:xfrm>
            <a:off x="4873680" y="321876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Visibility, Deadlock, Atomic, Semaphore</a:t>
            </a:r>
            <a:endParaRPr lang="tr-T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3"/>
          <p:cNvSpPr/>
          <p:nvPr/>
        </p:nvSpPr>
        <p:spPr>
          <a:xfrm>
            <a:off x="4709160" y="3840480"/>
            <a:ext cx="420588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4"/>
          <p:cNvSpPr/>
          <p:nvPr/>
        </p:nvSpPr>
        <p:spPr>
          <a:xfrm>
            <a:off x="4709160" y="3840480"/>
            <a:ext cx="63720" cy="8226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5"/>
          <p:cNvSpPr/>
          <p:nvPr/>
        </p:nvSpPr>
        <p:spPr>
          <a:xfrm>
            <a:off x="4873680" y="391356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8. Fork/Join Framework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6"/>
          <p:cNvSpPr/>
          <p:nvPr/>
        </p:nvSpPr>
        <p:spPr>
          <a:xfrm>
            <a:off x="4873680" y="422460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Paralel Görev Bölümleme</a:t>
            </a:r>
            <a:endParaRPr lang="tr-T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"/>
          <p:cNvSpPr/>
          <p:nvPr/>
        </p:nvSpPr>
        <p:spPr>
          <a:xfrm>
            <a:off x="0" y="5074920"/>
            <a:ext cx="9143640" cy="63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457200" y="1280160"/>
            <a:ext cx="8229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BÖLÜM 1</a:t>
            </a:r>
            <a:endParaRPr lang="tr-T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914400" y="2651760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9CCE3"/>
                </a:solidFill>
                <a:effectLst/>
                <a:uFillTx/>
                <a:latin typeface="Calibri"/>
                <a:ea typeface="Calibri"/>
              </a:rPr>
              <a:t>Multithreading'e Giriş &amp; Temel Kavramlar</a:t>
            </a:r>
            <a:endParaRPr lang="tr-T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Multithreading Nedir?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365760" y="80460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Aynı anda birden fazla iş parçacığının (thread) çalıştırılmasına olanak tanıyan bir programlama tekniğidir.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6"/>
          <p:cNvSpPr/>
          <p:nvPr/>
        </p:nvSpPr>
        <p:spPr>
          <a:xfrm>
            <a:off x="320040" y="1389960"/>
            <a:ext cx="3931560" cy="1371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320040" y="1389960"/>
            <a:ext cx="3931560" cy="292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429840" y="1426320"/>
            <a:ext cx="3767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Process (Süreç)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429840" y="1737360"/>
            <a:ext cx="37303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Bağımsız çalışan program örneği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Kendi bellek alanına sahiptir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İşletim sistemi tarafından yönetilir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Thread'lere göre daha ağır yapı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0"/>
          <p:cNvSpPr/>
          <p:nvPr/>
        </p:nvSpPr>
        <p:spPr>
          <a:xfrm>
            <a:off x="4617720" y="1389960"/>
            <a:ext cx="3931560" cy="1371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1"/>
          <p:cNvSpPr/>
          <p:nvPr/>
        </p:nvSpPr>
        <p:spPr>
          <a:xfrm>
            <a:off x="4617720" y="1389960"/>
            <a:ext cx="3931560" cy="2923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4727520" y="1426320"/>
            <a:ext cx="3767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Thread (İş Parçacığı)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4727520" y="1737360"/>
            <a:ext cx="37303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Process içinde çalışan en küçük birim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Bellekte process ile paylaşımlı alan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Hafif yapıda, hızlı oluşturulur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Paralel görevler için ideal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4"/>
          <p:cNvSpPr/>
          <p:nvPr/>
        </p:nvSpPr>
        <p:spPr>
          <a:xfrm>
            <a:off x="320040" y="2907720"/>
            <a:ext cx="3931560" cy="1462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5"/>
          <p:cNvSpPr/>
          <p:nvPr/>
        </p:nvSpPr>
        <p:spPr>
          <a:xfrm>
            <a:off x="320040" y="2907720"/>
            <a:ext cx="3931560" cy="292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429840" y="2944440"/>
            <a:ext cx="3767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Avantajlar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429840" y="3255120"/>
            <a:ext cx="373032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CPU kullanımını maksimize eder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I/O işlemlerinde beklemeyi azaltır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Kullanıcı deneyimini iyileştirir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Gerçek zamanlı işlem kapasitesi artar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8"/>
          <p:cNvSpPr/>
          <p:nvPr/>
        </p:nvSpPr>
        <p:spPr>
          <a:xfrm>
            <a:off x="4617720" y="2907720"/>
            <a:ext cx="3931560" cy="1462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9"/>
          <p:cNvSpPr/>
          <p:nvPr/>
        </p:nvSpPr>
        <p:spPr>
          <a:xfrm>
            <a:off x="4617720" y="2907720"/>
            <a:ext cx="3931560" cy="292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4727520" y="2944440"/>
            <a:ext cx="3767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Zorluklar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4727520" y="3255120"/>
            <a:ext cx="373032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Race condition (yarış durumu) riski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Deadlock (kilitlenme) tehlikesi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Senkronizasyon karmaşıklığı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Debug ve test güçlüğü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Sıralı (Sequential) ve Paralel Yürütme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320040" y="8046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Sıralı Yürütme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320040" y="11156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Görevler sırayla, birbirini bekleyerek çalışır.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7"/>
          <p:cNvSpPr/>
          <p:nvPr/>
        </p:nvSpPr>
        <p:spPr>
          <a:xfrm>
            <a:off x="320040" y="1508760"/>
            <a:ext cx="1188360" cy="5025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320040" y="1508760"/>
            <a:ext cx="1188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Görev A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9"/>
          <p:cNvSpPr/>
          <p:nvPr/>
        </p:nvSpPr>
        <p:spPr>
          <a:xfrm>
            <a:off x="1508760" y="1714680"/>
            <a:ext cx="182520" cy="9108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0"/>
          <p:cNvSpPr/>
          <p:nvPr/>
        </p:nvSpPr>
        <p:spPr>
          <a:xfrm>
            <a:off x="1691640" y="1508760"/>
            <a:ext cx="1188360" cy="5025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1"/>
          <p:cNvSpPr/>
          <p:nvPr/>
        </p:nvSpPr>
        <p:spPr>
          <a:xfrm>
            <a:off x="1691640" y="1508760"/>
            <a:ext cx="1188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Görev B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2"/>
          <p:cNvSpPr/>
          <p:nvPr/>
        </p:nvSpPr>
        <p:spPr>
          <a:xfrm>
            <a:off x="2880360" y="1714680"/>
            <a:ext cx="182520" cy="9108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3"/>
          <p:cNvSpPr/>
          <p:nvPr/>
        </p:nvSpPr>
        <p:spPr>
          <a:xfrm>
            <a:off x="3063240" y="1508760"/>
            <a:ext cx="1188360" cy="5025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4"/>
          <p:cNvSpPr/>
          <p:nvPr/>
        </p:nvSpPr>
        <p:spPr>
          <a:xfrm>
            <a:off x="3063240" y="1508760"/>
            <a:ext cx="1188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Görev C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320040" y="212148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→ Toplam süre: A + B + C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6"/>
          <p:cNvSpPr/>
          <p:nvPr/>
        </p:nvSpPr>
        <p:spPr>
          <a:xfrm>
            <a:off x="4754880" y="80460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Paralel (Multithreaded) Yürütme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7"/>
          <p:cNvSpPr/>
          <p:nvPr/>
        </p:nvSpPr>
        <p:spPr>
          <a:xfrm>
            <a:off x="4754880" y="11156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Görevler eş zamanlı olarak farklı thread'lerde çalışır.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8"/>
          <p:cNvSpPr/>
          <p:nvPr/>
        </p:nvSpPr>
        <p:spPr>
          <a:xfrm>
            <a:off x="4754880" y="1508760"/>
            <a:ext cx="1188360" cy="47520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9"/>
          <p:cNvSpPr/>
          <p:nvPr/>
        </p:nvSpPr>
        <p:spPr>
          <a:xfrm>
            <a:off x="4754880" y="1508760"/>
            <a:ext cx="1188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Thread 1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0"/>
          <p:cNvSpPr/>
          <p:nvPr/>
        </p:nvSpPr>
        <p:spPr>
          <a:xfrm>
            <a:off x="6035040" y="1508760"/>
            <a:ext cx="2559960" cy="475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1"/>
          <p:cNvSpPr/>
          <p:nvPr/>
        </p:nvSpPr>
        <p:spPr>
          <a:xfrm>
            <a:off x="6035040" y="1508760"/>
            <a:ext cx="2559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Görev A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2"/>
          <p:cNvSpPr/>
          <p:nvPr/>
        </p:nvSpPr>
        <p:spPr>
          <a:xfrm>
            <a:off x="4754880" y="2103120"/>
            <a:ext cx="1188360" cy="47520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3"/>
          <p:cNvSpPr/>
          <p:nvPr/>
        </p:nvSpPr>
        <p:spPr>
          <a:xfrm>
            <a:off x="4754880" y="2103120"/>
            <a:ext cx="1188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Thread 2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4"/>
          <p:cNvSpPr/>
          <p:nvPr/>
        </p:nvSpPr>
        <p:spPr>
          <a:xfrm>
            <a:off x="6035040" y="2103120"/>
            <a:ext cx="2559960" cy="475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5"/>
          <p:cNvSpPr/>
          <p:nvPr/>
        </p:nvSpPr>
        <p:spPr>
          <a:xfrm>
            <a:off x="6035040" y="2103120"/>
            <a:ext cx="2559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Görev B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6"/>
          <p:cNvSpPr/>
          <p:nvPr/>
        </p:nvSpPr>
        <p:spPr>
          <a:xfrm>
            <a:off x="4754880" y="2697480"/>
            <a:ext cx="1188360" cy="47520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7"/>
          <p:cNvSpPr/>
          <p:nvPr/>
        </p:nvSpPr>
        <p:spPr>
          <a:xfrm>
            <a:off x="4754880" y="2697480"/>
            <a:ext cx="1188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Thread 3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8"/>
          <p:cNvSpPr/>
          <p:nvPr/>
        </p:nvSpPr>
        <p:spPr>
          <a:xfrm>
            <a:off x="6035040" y="2697480"/>
            <a:ext cx="2559960" cy="475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9"/>
          <p:cNvSpPr/>
          <p:nvPr/>
        </p:nvSpPr>
        <p:spPr>
          <a:xfrm>
            <a:off x="6035040" y="2697480"/>
            <a:ext cx="2559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Görev C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0"/>
          <p:cNvSpPr/>
          <p:nvPr/>
        </p:nvSpPr>
        <p:spPr>
          <a:xfrm>
            <a:off x="4754880" y="340164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→ Toplam süre: max(A, B, C)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1"/>
          <p:cNvSpPr/>
          <p:nvPr/>
        </p:nvSpPr>
        <p:spPr>
          <a:xfrm>
            <a:off x="4480560" y="777240"/>
            <a:ext cx="36360" cy="320004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32"/>
          <p:cNvSpPr/>
          <p:nvPr/>
        </p:nvSpPr>
        <p:spPr>
          <a:xfrm>
            <a:off x="320040" y="3611880"/>
            <a:ext cx="8412120" cy="7768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33"/>
          <p:cNvSpPr/>
          <p:nvPr/>
        </p:nvSpPr>
        <p:spPr>
          <a:xfrm>
            <a:off x="320040" y="3611880"/>
            <a:ext cx="8412120" cy="292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4"/>
          <p:cNvSpPr/>
          <p:nvPr/>
        </p:nvSpPr>
        <p:spPr>
          <a:xfrm>
            <a:off x="429840" y="3648600"/>
            <a:ext cx="8247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Temel Çıkarım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5"/>
          <p:cNvSpPr/>
          <p:nvPr/>
        </p:nvSpPr>
        <p:spPr>
          <a:xfrm>
            <a:off x="429840" y="3959280"/>
            <a:ext cx="82108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Sıralı yürütme daha basit ama yavaştır. Paralel yürütme karmaşık ancak I/O-yoğun ve CPU-yoğun görevlerde dramatik performans artışı sağlar.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Thread Oluşturma: Runnable Arayüzü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365760" y="80460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Runnable arayüzü, thread mantığını bir sınıftan bağımsız hale getirerek daha esnek bir yaklaşım sunar.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6"/>
          <p:cNvSpPr/>
          <p:nvPr/>
        </p:nvSpPr>
        <p:spPr>
          <a:xfrm>
            <a:off x="320040" y="1298520"/>
            <a:ext cx="5028840" cy="320004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7"/>
          <p:cNvSpPr/>
          <p:nvPr/>
        </p:nvSpPr>
        <p:spPr>
          <a:xfrm>
            <a:off x="457200" y="1408320"/>
            <a:ext cx="4772880" cy="29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Runnable implementasyonu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class MyTask implements Runnable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@Override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public void run()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System.out.println("Thread çalışıyor: "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+ Thread.currentThread().getName());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Lambda ile kısa yazım (Java 8+)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Runnable task = () -&gt;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System.out.println("Lambda thread!");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Thread thread = new Thread(task);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thread.start();  // run() DEĞİL, start() çağrılır!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8"/>
          <p:cNvSpPr/>
          <p:nvPr/>
        </p:nvSpPr>
        <p:spPr>
          <a:xfrm>
            <a:off x="5532120" y="1298520"/>
            <a:ext cx="3291480" cy="1462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9"/>
          <p:cNvSpPr/>
          <p:nvPr/>
        </p:nvSpPr>
        <p:spPr>
          <a:xfrm>
            <a:off x="5532120" y="1298520"/>
            <a:ext cx="3291480" cy="292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0"/>
          <p:cNvSpPr/>
          <p:nvPr/>
        </p:nvSpPr>
        <p:spPr>
          <a:xfrm>
            <a:off x="5641920" y="1334880"/>
            <a:ext cx="312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Avantajlar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1"/>
          <p:cNvSpPr/>
          <p:nvPr/>
        </p:nvSpPr>
        <p:spPr>
          <a:xfrm>
            <a:off x="5641920" y="1645920"/>
            <a:ext cx="309024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Başka bir sınıfı extend edebilirsiniz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Aynı task birden fazla thread'de kullanılabilir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Lambda ile daha az kod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Görev &amp; thread birbirinden ayrışır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2"/>
          <p:cNvSpPr/>
          <p:nvPr/>
        </p:nvSpPr>
        <p:spPr>
          <a:xfrm>
            <a:off x="5532120" y="2853000"/>
            <a:ext cx="3291480" cy="16455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3"/>
          <p:cNvSpPr/>
          <p:nvPr/>
        </p:nvSpPr>
        <p:spPr>
          <a:xfrm>
            <a:off x="5532120" y="2853000"/>
            <a:ext cx="3291480" cy="292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4"/>
          <p:cNvSpPr/>
          <p:nvPr/>
        </p:nvSpPr>
        <p:spPr>
          <a:xfrm>
            <a:off x="5641920" y="2889360"/>
            <a:ext cx="312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Dikkat Noktaları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5"/>
          <p:cNvSpPr/>
          <p:nvPr/>
        </p:nvSpPr>
        <p:spPr>
          <a:xfrm>
            <a:off x="5641920" y="3200400"/>
            <a:ext cx="309024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thread.run() çağrısı yeni thread oluşturmaz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thread.start() ile yeni thread başlar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Bir Thread nesnesi sadece bir kez start edilebilir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İstisnalar run() içinde yakalanmalıdır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Thread Oluşturma: Thread Sınıfının Genişletilmesi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365760" y="80460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Thread sınıfını extend ederek doğrudan run() metodunu override edebilirsiniz.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6"/>
          <p:cNvSpPr/>
          <p:nvPr/>
        </p:nvSpPr>
        <p:spPr>
          <a:xfrm>
            <a:off x="320040" y="1261800"/>
            <a:ext cx="5028840" cy="255996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457200" y="1371600"/>
            <a:ext cx="4772880" cy="23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Thread sınıfından türetme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class MyThread extends Thread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private String taskName;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public MyThread(String name)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this.taskName = name;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@Override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public void run()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System.out.println(taskName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+ " çalışıyor: "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+ getName());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Kullanım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MyThread t = new MyThread("İş-1");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t.start();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5532120" y="126180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Runnable vs Thread — Karşılaştırma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0" name="Table 0"/>
          <p:cNvGraphicFramePr/>
          <p:nvPr/>
        </p:nvGraphicFramePr>
        <p:xfrm>
          <a:off x="5532120" y="1627560"/>
          <a:ext cx="3291480" cy="155412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3106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Özellik</a:t>
                      </a:r>
                      <a:endParaRPr lang="tr-T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Runnable</a:t>
                      </a:r>
                      <a:endParaRPr lang="tr-T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Thread</a:t>
                      </a:r>
                      <a:endParaRPr lang="tr-T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Kalıtım</a:t>
                      </a:r>
                      <a:endParaRPr lang="tr-T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Serbest</a:t>
                      </a:r>
                      <a:endParaRPr lang="tr-T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Thread extend</a:t>
                      </a:r>
                      <a:endParaRPr lang="tr-T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Esneklik</a:t>
                      </a:r>
                      <a:endParaRPr lang="tr-T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Yüksek</a:t>
                      </a:r>
                      <a:endParaRPr lang="tr-T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Düşük</a:t>
                      </a:r>
                      <a:endParaRPr lang="tr-T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Lambda</a:t>
                      </a:r>
                      <a:endParaRPr lang="tr-T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Evet</a:t>
                      </a:r>
                      <a:endParaRPr lang="tr-T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Hayır</a:t>
                      </a:r>
                      <a:endParaRPr lang="tr-T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Tavsiye</a:t>
                      </a:r>
                      <a:endParaRPr lang="tr-T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✔ Tercih</a:t>
                      </a:r>
                      <a:endParaRPr lang="tr-T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Özel durumda</a:t>
                      </a:r>
                      <a:endParaRPr lang="tr-T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1" name="Shape 9"/>
          <p:cNvSpPr/>
          <p:nvPr/>
        </p:nvSpPr>
        <p:spPr>
          <a:xfrm>
            <a:off x="320040" y="3950280"/>
            <a:ext cx="8412120" cy="804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0"/>
          <p:cNvSpPr/>
          <p:nvPr/>
        </p:nvSpPr>
        <p:spPr>
          <a:xfrm>
            <a:off x="320040" y="3950280"/>
            <a:ext cx="8412120" cy="2923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429840" y="3986640"/>
            <a:ext cx="8247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Altın Kural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2"/>
          <p:cNvSpPr/>
          <p:nvPr/>
        </p:nvSpPr>
        <p:spPr>
          <a:xfrm>
            <a:off x="429840" y="4297680"/>
            <a:ext cx="8210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Nesne yönelimli tasarım açısından Runnable tercih edilmelidir. Thread'i sadece Thread davranışını özelleştirmeniz gerektiğinde extend edin.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0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"/>
          <p:cNvSpPr/>
          <p:nvPr/>
        </p:nvSpPr>
        <p:spPr>
          <a:xfrm>
            <a:off x="0" y="5074920"/>
            <a:ext cx="9143640" cy="63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457200" y="1280160"/>
            <a:ext cx="8229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BÖLÜM 2</a:t>
            </a:r>
            <a:endParaRPr lang="tr-T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914400" y="2651760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9CCE3"/>
                </a:solidFill>
                <a:effectLst/>
                <a:uFillTx/>
                <a:latin typeface="Calibri"/>
                <a:ea typeface="Calibri"/>
              </a:rPr>
              <a:t>Thread Yönetimi: Join, Daemon Threads &amp; Öncelik</a:t>
            </a:r>
            <a:endParaRPr lang="tr-T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join() Metodu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365760" y="80460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join() bir thread'in tamamlanmasını beklemek için kullanılır. Bağımlılık sıralaması oluşturur.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6"/>
          <p:cNvSpPr/>
          <p:nvPr/>
        </p:nvSpPr>
        <p:spPr>
          <a:xfrm>
            <a:off x="320040" y="1261800"/>
            <a:ext cx="4937400" cy="274284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457200" y="1371600"/>
            <a:ext cx="4681440" cy="25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Thread t1 = new Thread(() -&gt;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System.out.println("T1 çalışıyor...");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Thread.sleep(2000);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System.out.println("T1 bitti");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Thread t2 = new Thread(() -&gt;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System.out.println("T2 çalışıyor...");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t1.start();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t1.join();   // T2 başlamadan önce T1'i bekle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t2.start();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Timeout ile join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t1.join(5000); // En fazla 5 saniye bekle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5440680" y="126180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Neden join() Kullanılır?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5440680" y="1627560"/>
            <a:ext cx="3382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Thread sonuçlarına bağımlı işlemler için</a:t>
            </a:r>
            <a:endParaRPr lang="tr-T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Belirli bir sıra garantisi sağlamak amacıyla</a:t>
            </a:r>
            <a:endParaRPr lang="tr-T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Ana thread'in erken sonlanmasını önlemek için</a:t>
            </a:r>
            <a:endParaRPr lang="tr-T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Timeout ile ölçümlü bekleme kontrolü</a:t>
            </a:r>
            <a:endParaRPr lang="tr-T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0"/>
          <p:cNvSpPr/>
          <p:nvPr/>
        </p:nvSpPr>
        <p:spPr>
          <a:xfrm>
            <a:off x="5440680" y="3035880"/>
            <a:ext cx="3382920" cy="96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1"/>
          <p:cNvSpPr/>
          <p:nvPr/>
        </p:nvSpPr>
        <p:spPr>
          <a:xfrm>
            <a:off x="5440680" y="3035880"/>
            <a:ext cx="3382920" cy="292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5550480" y="307224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join() Durumları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3"/>
          <p:cNvSpPr/>
          <p:nvPr/>
        </p:nvSpPr>
        <p:spPr>
          <a:xfrm>
            <a:off x="5550480" y="3383280"/>
            <a:ext cx="3181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Argümansız: Thread bitene kadar bekler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join(ms): Belirtilen ms kadar bekler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InterruptedException fırlatabilir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Daemon Thread'ler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365760" y="80460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Daemon thread'ler arka plan görevleri için kullanılır. JVM, tüm non-daemon thread'ler bittiğinde daemon thread'leri otomatik sonlandırır.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6"/>
          <p:cNvSpPr/>
          <p:nvPr/>
        </p:nvSpPr>
        <p:spPr>
          <a:xfrm>
            <a:off x="320040" y="1334880"/>
            <a:ext cx="4937400" cy="201132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7"/>
          <p:cNvSpPr/>
          <p:nvPr/>
        </p:nvSpPr>
        <p:spPr>
          <a:xfrm>
            <a:off x="457200" y="1444680"/>
            <a:ext cx="4681440" cy="18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Thread daemonThread = new Thread(() -&gt;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while (true)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System.out.println("Arka plan çalışıyor...");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Thread.sleep(1000);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start() çağrısından ÖNCE ayarlanmalı!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daemonThread.setDaemon(true);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daemonThread.start();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System.out.println("Ana thread bitiyor...");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JVM daemon'u da sonlandırır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8"/>
          <p:cNvSpPr/>
          <p:nvPr/>
        </p:nvSpPr>
        <p:spPr>
          <a:xfrm>
            <a:off x="5440680" y="1334880"/>
            <a:ext cx="3382920" cy="914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9"/>
          <p:cNvSpPr/>
          <p:nvPr/>
        </p:nvSpPr>
        <p:spPr>
          <a:xfrm>
            <a:off x="5440680" y="1334880"/>
            <a:ext cx="3382920" cy="2923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5550480" y="137160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Daemon Kullanım Alanları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1"/>
          <p:cNvSpPr/>
          <p:nvPr/>
        </p:nvSpPr>
        <p:spPr>
          <a:xfrm>
            <a:off x="5550480" y="1682640"/>
            <a:ext cx="31816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Garbage Collection (JVM dahili)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Log yazma ve izleme görevleri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Periyodik temizlik işlemleri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Heartbeat / watchdog servisleri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2"/>
          <p:cNvSpPr/>
          <p:nvPr/>
        </p:nvSpPr>
        <p:spPr>
          <a:xfrm>
            <a:off x="5440680" y="2340720"/>
            <a:ext cx="338292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3"/>
          <p:cNvSpPr/>
          <p:nvPr/>
        </p:nvSpPr>
        <p:spPr>
          <a:xfrm>
            <a:off x="5440680" y="2340720"/>
            <a:ext cx="3382920" cy="292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4"/>
          <p:cNvSpPr/>
          <p:nvPr/>
        </p:nvSpPr>
        <p:spPr>
          <a:xfrm>
            <a:off x="5550480" y="237744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Kritik Noktalar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5"/>
          <p:cNvSpPr/>
          <p:nvPr/>
        </p:nvSpPr>
        <p:spPr>
          <a:xfrm>
            <a:off x="5550480" y="2688480"/>
            <a:ext cx="3181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setDaemon(true) → start() dan önce çağrılmalı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Main thread varsayılan olarak non-daemon'dur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Daemon thread'ler ani bitiş yaşayabilir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I/O işlemleri güvenli olmayabilir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6"/>
          <p:cNvSpPr/>
          <p:nvPr/>
        </p:nvSpPr>
        <p:spPr>
          <a:xfrm>
            <a:off x="320040" y="3456360"/>
            <a:ext cx="841212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7"/>
          <p:cNvSpPr/>
          <p:nvPr/>
        </p:nvSpPr>
        <p:spPr>
          <a:xfrm>
            <a:off x="320040" y="3456360"/>
            <a:ext cx="8412120" cy="292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8"/>
          <p:cNvSpPr/>
          <p:nvPr/>
        </p:nvSpPr>
        <p:spPr>
          <a:xfrm>
            <a:off x="429840" y="3493080"/>
            <a:ext cx="8247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Non-Daemon vs Daemon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9"/>
          <p:cNvSpPr/>
          <p:nvPr/>
        </p:nvSpPr>
        <p:spPr>
          <a:xfrm>
            <a:off x="429840" y="3803760"/>
            <a:ext cx="82108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Non-Daemon (Kullanıcı Thread'i): JVM bu thread bitene kadar çalışmaya devam eder.  |  Daemon Thread: JVM çalışırken arka planda hizmet verir, tüm kullanıcı thread'leri bitince otomatik durur.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Thread Önceliği (Priority)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365760" y="80460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Thread önceliği, thread zamanlayıcısına hangi thread'in CPU zamanı alacağı konusunda bir ipucu verir.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6"/>
          <p:cNvSpPr/>
          <p:nvPr/>
        </p:nvSpPr>
        <p:spPr>
          <a:xfrm>
            <a:off x="320040" y="1261800"/>
            <a:ext cx="4937400" cy="228564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7"/>
          <p:cNvSpPr/>
          <p:nvPr/>
        </p:nvSpPr>
        <p:spPr>
          <a:xfrm>
            <a:off x="457200" y="1371600"/>
            <a:ext cx="4681440" cy="20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Thread t = new Thread(() -&gt; { /* görev */ });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Öncelik değerleri: 1-10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t.setPriority(Thread.MIN_PRIORITY);    // 1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t.setPriority(Thread.NORM_PRIORITY);   // 5 (varsayılan)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t.setPriority(Thread.MAX_PRIORITY);    // 10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t.setPriority(7);  // Özel değer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t.start();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System.out.println(t.getPriority());   // 7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8"/>
          <p:cNvSpPr/>
          <p:nvPr/>
        </p:nvSpPr>
        <p:spPr>
          <a:xfrm>
            <a:off x="320040" y="3749040"/>
            <a:ext cx="1462680" cy="639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9"/>
          <p:cNvSpPr/>
          <p:nvPr/>
        </p:nvSpPr>
        <p:spPr>
          <a:xfrm>
            <a:off x="320040" y="374904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1-2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Düşük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0"/>
          <p:cNvSpPr/>
          <p:nvPr/>
        </p:nvSpPr>
        <p:spPr>
          <a:xfrm>
            <a:off x="1965960" y="3749040"/>
            <a:ext cx="1462680" cy="639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1"/>
          <p:cNvSpPr/>
          <p:nvPr/>
        </p:nvSpPr>
        <p:spPr>
          <a:xfrm>
            <a:off x="1965960" y="374904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3-4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Normal Alt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2"/>
          <p:cNvSpPr/>
          <p:nvPr/>
        </p:nvSpPr>
        <p:spPr>
          <a:xfrm>
            <a:off x="3611880" y="3749040"/>
            <a:ext cx="1462680" cy="639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3"/>
          <p:cNvSpPr/>
          <p:nvPr/>
        </p:nvSpPr>
        <p:spPr>
          <a:xfrm>
            <a:off x="3611880" y="374904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Normal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4"/>
          <p:cNvSpPr/>
          <p:nvPr/>
        </p:nvSpPr>
        <p:spPr>
          <a:xfrm>
            <a:off x="5257800" y="3749040"/>
            <a:ext cx="1462680" cy="639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5"/>
          <p:cNvSpPr/>
          <p:nvPr/>
        </p:nvSpPr>
        <p:spPr>
          <a:xfrm>
            <a:off x="5257800" y="374904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6-8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Yüksek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6"/>
          <p:cNvSpPr/>
          <p:nvPr/>
        </p:nvSpPr>
        <p:spPr>
          <a:xfrm>
            <a:off x="6903720" y="3749040"/>
            <a:ext cx="1462680" cy="639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7"/>
          <p:cNvSpPr/>
          <p:nvPr/>
        </p:nvSpPr>
        <p:spPr>
          <a:xfrm>
            <a:off x="6903720" y="374904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9-10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Maks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8"/>
          <p:cNvSpPr/>
          <p:nvPr/>
        </p:nvSpPr>
        <p:spPr>
          <a:xfrm>
            <a:off x="320040" y="356616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Thread Öncelik Skalası (1 → 10)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9"/>
          <p:cNvSpPr/>
          <p:nvPr/>
        </p:nvSpPr>
        <p:spPr>
          <a:xfrm>
            <a:off x="5440680" y="1261800"/>
            <a:ext cx="3382920" cy="2285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0"/>
          <p:cNvSpPr/>
          <p:nvPr/>
        </p:nvSpPr>
        <p:spPr>
          <a:xfrm>
            <a:off x="5440680" y="1261800"/>
            <a:ext cx="3382920" cy="292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1"/>
          <p:cNvSpPr/>
          <p:nvPr/>
        </p:nvSpPr>
        <p:spPr>
          <a:xfrm>
            <a:off x="5550480" y="129852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Önemli Uyarılar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2"/>
          <p:cNvSpPr/>
          <p:nvPr/>
        </p:nvSpPr>
        <p:spPr>
          <a:xfrm>
            <a:off x="5550480" y="1609200"/>
            <a:ext cx="3181680" cy="186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Öncelik sadece bir 'ipucu'dur, garanti değil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İşletim sistemine göre davranış değişir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Starvation (açlık) sorununa yol açabilir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Düşük öncelikli thread hiç çalışmayabilir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Performans için kesinlikle güvenilmemelidir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Gerçek zamanlı sistemlerde dikkatli kullanın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"/>
          <p:cNvSpPr/>
          <p:nvPr/>
        </p:nvSpPr>
        <p:spPr>
          <a:xfrm>
            <a:off x="0" y="5074920"/>
            <a:ext cx="9143640" cy="63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"/>
          <p:cNvSpPr/>
          <p:nvPr/>
        </p:nvSpPr>
        <p:spPr>
          <a:xfrm>
            <a:off x="457200" y="1280160"/>
            <a:ext cx="8229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BÖLÜM 3</a:t>
            </a:r>
            <a:endParaRPr lang="tr-T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"/>
          <p:cNvSpPr/>
          <p:nvPr/>
        </p:nvSpPr>
        <p:spPr>
          <a:xfrm>
            <a:off x="914400" y="2651760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9CCE3"/>
                </a:solidFill>
                <a:effectLst/>
                <a:uFillTx/>
                <a:latin typeface="Calibri"/>
                <a:ea typeface="Calibri"/>
              </a:rPr>
              <a:t>Senkronizasyon: Synchronized, Wait/Notify &amp; Producer-Consumer</a:t>
            </a:r>
            <a:endParaRPr lang="tr-T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Synchronized Bloklar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5"/>
          <p:cNvSpPr/>
          <p:nvPr/>
        </p:nvSpPr>
        <p:spPr>
          <a:xfrm>
            <a:off x="365760" y="80460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Race condition'ı (yarış durumu) önlemek için kritik bölge (critical section) sadece bir thread tarafından aynı anda erişilebilir hale getirilir.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6"/>
          <p:cNvSpPr/>
          <p:nvPr/>
        </p:nvSpPr>
        <p:spPr>
          <a:xfrm>
            <a:off x="320040" y="1334880"/>
            <a:ext cx="4937400" cy="283428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7"/>
          <p:cNvSpPr/>
          <p:nvPr/>
        </p:nvSpPr>
        <p:spPr>
          <a:xfrm>
            <a:off x="457200" y="1444680"/>
            <a:ext cx="4681440" cy="26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class BankAccount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private int balance = 0;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private final Object lock = new Object();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// Synchronized method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public synchronized void deposit(int amount)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balance += amount;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// Synchronized block (daha ince kontrol)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public void withdraw(int amount)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synchronized (lock)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if (balance &gt;= amount)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    balance -= amount;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public int getBalance() { return balance;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8"/>
          <p:cNvSpPr/>
          <p:nvPr/>
        </p:nvSpPr>
        <p:spPr>
          <a:xfrm>
            <a:off x="5440680" y="1334880"/>
            <a:ext cx="3382920" cy="1462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9"/>
          <p:cNvSpPr/>
          <p:nvPr/>
        </p:nvSpPr>
        <p:spPr>
          <a:xfrm>
            <a:off x="5440680" y="1334880"/>
            <a:ext cx="3382920" cy="292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0"/>
          <p:cNvSpPr/>
          <p:nvPr/>
        </p:nvSpPr>
        <p:spPr>
          <a:xfrm>
            <a:off x="5550480" y="137160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Nasıl Çalışır?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1"/>
          <p:cNvSpPr/>
          <p:nvPr/>
        </p:nvSpPr>
        <p:spPr>
          <a:xfrm>
            <a:off x="5550480" y="1682640"/>
            <a:ext cx="318168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Her nesnenin dahili bir 'monitor lock' vardır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synchronized keyword kilidi alır/bırakır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Kilidi almayan thread BLOCKED durumuna geçer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Kilit serbest bırakılınca bekleyenlerden biri devam eder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2"/>
          <p:cNvSpPr/>
          <p:nvPr/>
        </p:nvSpPr>
        <p:spPr>
          <a:xfrm>
            <a:off x="5440680" y="2889360"/>
            <a:ext cx="3382920" cy="1279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3"/>
          <p:cNvSpPr/>
          <p:nvPr/>
        </p:nvSpPr>
        <p:spPr>
          <a:xfrm>
            <a:off x="5440680" y="2889360"/>
            <a:ext cx="3382920" cy="292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4"/>
          <p:cNvSpPr/>
          <p:nvPr/>
        </p:nvSpPr>
        <p:spPr>
          <a:xfrm>
            <a:off x="5550480" y="292608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Method vs Block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5"/>
          <p:cNvSpPr/>
          <p:nvPr/>
        </p:nvSpPr>
        <p:spPr>
          <a:xfrm>
            <a:off x="5550480" y="3237120"/>
            <a:ext cx="318168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Synchronized method: tüm metod kilitlenir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Synchronized block: sadece belirli bölge kilitlenir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Block → daha az bekleme, daha yüksek performans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Özel lock nesnesi daha hassas kontrol sağlar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Synchronized Bloklarının Sorunları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5"/>
          <p:cNvSpPr/>
          <p:nvPr/>
        </p:nvSpPr>
        <p:spPr>
          <a:xfrm>
            <a:off x="320040" y="822960"/>
            <a:ext cx="4160160" cy="1371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6"/>
          <p:cNvSpPr/>
          <p:nvPr/>
        </p:nvSpPr>
        <p:spPr>
          <a:xfrm>
            <a:off x="320040" y="822960"/>
            <a:ext cx="4160160" cy="292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7"/>
          <p:cNvSpPr/>
          <p:nvPr/>
        </p:nvSpPr>
        <p:spPr>
          <a:xfrm>
            <a:off x="429840" y="859680"/>
            <a:ext cx="399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 Performans Düşüşü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8"/>
          <p:cNvSpPr/>
          <p:nvPr/>
        </p:nvSpPr>
        <p:spPr>
          <a:xfrm>
            <a:off x="429840" y="1170360"/>
            <a:ext cx="39589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Geniş synchronized blokları iş parçacıklarını uzun süre bekletir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Paralel çalışma azalır, throughput düşer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Kritik bölge mümkün olduğunca küçük tutulmalı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9"/>
          <p:cNvSpPr/>
          <p:nvPr/>
        </p:nvSpPr>
        <p:spPr>
          <a:xfrm>
            <a:off x="4663440" y="822960"/>
            <a:ext cx="4160160" cy="1371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0"/>
          <p:cNvSpPr/>
          <p:nvPr/>
        </p:nvSpPr>
        <p:spPr>
          <a:xfrm>
            <a:off x="4663440" y="822960"/>
            <a:ext cx="4160160" cy="292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1"/>
          <p:cNvSpPr/>
          <p:nvPr/>
        </p:nvSpPr>
        <p:spPr>
          <a:xfrm>
            <a:off x="4773240" y="859680"/>
            <a:ext cx="399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 Deadlock Riski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2"/>
          <p:cNvSpPr/>
          <p:nvPr/>
        </p:nvSpPr>
        <p:spPr>
          <a:xfrm>
            <a:off x="4773240" y="1170360"/>
            <a:ext cx="39589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İki thread birbirinin tuttuğu kilidi bekliyorsa sistem kilitlenir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Thread A → Lock1 bekler, Thread B → Lock2 bekler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Her ikisi de ilerleme sağlayamaz → Deadlock!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3"/>
          <p:cNvSpPr/>
          <p:nvPr/>
        </p:nvSpPr>
        <p:spPr>
          <a:xfrm>
            <a:off x="320040" y="2304360"/>
            <a:ext cx="4160160" cy="1371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4"/>
          <p:cNvSpPr/>
          <p:nvPr/>
        </p:nvSpPr>
        <p:spPr>
          <a:xfrm>
            <a:off x="320040" y="2304360"/>
            <a:ext cx="4160160" cy="292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5"/>
          <p:cNvSpPr/>
          <p:nvPr/>
        </p:nvSpPr>
        <p:spPr>
          <a:xfrm>
            <a:off x="429840" y="2340720"/>
            <a:ext cx="399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3. Starvation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6"/>
          <p:cNvSpPr/>
          <p:nvPr/>
        </p:nvSpPr>
        <p:spPr>
          <a:xfrm>
            <a:off x="429840" y="2651760"/>
            <a:ext cx="39589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Düşük öncelikli thread hiçbir zaman kilide erişemeyebilir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Yüksek öncelikli thread'ler sürekli önde geçer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Fair lock mekanizmaları (ReentrantLock) çözüm sunar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7"/>
          <p:cNvSpPr/>
          <p:nvPr/>
        </p:nvSpPr>
        <p:spPr>
          <a:xfrm>
            <a:off x="4663440" y="2304360"/>
            <a:ext cx="4160160" cy="1371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8"/>
          <p:cNvSpPr/>
          <p:nvPr/>
        </p:nvSpPr>
        <p:spPr>
          <a:xfrm>
            <a:off x="4663440" y="2304360"/>
            <a:ext cx="4160160" cy="292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9"/>
          <p:cNvSpPr/>
          <p:nvPr/>
        </p:nvSpPr>
        <p:spPr>
          <a:xfrm>
            <a:off x="4773240" y="2340720"/>
            <a:ext cx="399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4. Livelock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0"/>
          <p:cNvSpPr/>
          <p:nvPr/>
        </p:nvSpPr>
        <p:spPr>
          <a:xfrm>
            <a:off x="4773240" y="2651760"/>
            <a:ext cx="39589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Thread'ler birbirini sürekli 'kibarca bekletir'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CPU meşgul görünür ama iş ilerlemez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Senkronizasyon stratejisi gözden geçirilmelidir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1"/>
          <p:cNvSpPr/>
          <p:nvPr/>
        </p:nvSpPr>
        <p:spPr>
          <a:xfrm>
            <a:off x="320040" y="3767400"/>
            <a:ext cx="850356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22"/>
          <p:cNvSpPr/>
          <p:nvPr/>
        </p:nvSpPr>
        <p:spPr>
          <a:xfrm>
            <a:off x="320040" y="3767400"/>
            <a:ext cx="8503560" cy="292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3"/>
          <p:cNvSpPr/>
          <p:nvPr/>
        </p:nvSpPr>
        <p:spPr>
          <a:xfrm>
            <a:off x="429840" y="3803760"/>
            <a:ext cx="8339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Çözüm Yaklaşımları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4"/>
          <p:cNvSpPr/>
          <p:nvPr/>
        </p:nvSpPr>
        <p:spPr>
          <a:xfrm>
            <a:off x="429840" y="4114800"/>
            <a:ext cx="83023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Lock sıralamasını tutarlı tutun  •  Timeout'lu kilitleme kullanın  •  java.util.concurrent sınıflarını tercih edin  •  Immutable (değişmez) nesneler kullanın  •  Atomic değişkenlerle lock'tan kaçının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wait() &amp; notify() / notifyAll()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5"/>
          <p:cNvSpPr/>
          <p:nvPr/>
        </p:nvSpPr>
        <p:spPr>
          <a:xfrm>
            <a:off x="365760" y="80460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Thread'ler arasındaki koordinasyonu sağlamak için kullanılır. Bir koşul sağlanana kadar bekleme ve uyandırma mekanizması sunar.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6"/>
          <p:cNvSpPr/>
          <p:nvPr/>
        </p:nvSpPr>
        <p:spPr>
          <a:xfrm>
            <a:off x="320040" y="1298520"/>
            <a:ext cx="5028840" cy="288000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7"/>
          <p:cNvSpPr/>
          <p:nvPr/>
        </p:nvSpPr>
        <p:spPr>
          <a:xfrm>
            <a:off x="457200" y="1408320"/>
            <a:ext cx="4772880" cy="26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class SharedResource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private boolean ready = false;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public synchronized void waitForReady()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throws InterruptedException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while (!ready) {  // while döngüsü şart!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wait();  // Kilidi bırakır ve bekler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// Devam et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public synchronized void setReady()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ready = true;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notifyAll();  // Tüm bekleyen thread'leri uyandır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// notify();  // Sadece birini uyandırır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8"/>
          <p:cNvSpPr/>
          <p:nvPr/>
        </p:nvSpPr>
        <p:spPr>
          <a:xfrm>
            <a:off x="5532120" y="1298520"/>
            <a:ext cx="338292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9"/>
          <p:cNvSpPr/>
          <p:nvPr/>
        </p:nvSpPr>
        <p:spPr>
          <a:xfrm>
            <a:off x="5532120" y="1298520"/>
            <a:ext cx="3382920" cy="292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0"/>
          <p:cNvSpPr/>
          <p:nvPr/>
        </p:nvSpPr>
        <p:spPr>
          <a:xfrm>
            <a:off x="5641920" y="133488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wait()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1"/>
          <p:cNvSpPr/>
          <p:nvPr/>
        </p:nvSpPr>
        <p:spPr>
          <a:xfrm>
            <a:off x="5641920" y="1645920"/>
            <a:ext cx="3181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synchronized blok içinde çağrılmalı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Kilidi serbest bırakır ve bekler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notify/notifyAll ile uyandırılır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Spurious wakeup'a karşı while kullanın!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2"/>
          <p:cNvSpPr/>
          <p:nvPr/>
        </p:nvSpPr>
        <p:spPr>
          <a:xfrm>
            <a:off x="5532120" y="2395800"/>
            <a:ext cx="3382920" cy="914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3"/>
          <p:cNvSpPr/>
          <p:nvPr/>
        </p:nvSpPr>
        <p:spPr>
          <a:xfrm>
            <a:off x="5532120" y="2395800"/>
            <a:ext cx="3382920" cy="2923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4"/>
          <p:cNvSpPr/>
          <p:nvPr/>
        </p:nvSpPr>
        <p:spPr>
          <a:xfrm>
            <a:off x="5641920" y="243216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notify() vs notifyAll()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5"/>
          <p:cNvSpPr/>
          <p:nvPr/>
        </p:nvSpPr>
        <p:spPr>
          <a:xfrm>
            <a:off x="5641920" y="2743200"/>
            <a:ext cx="31816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notify(): rastgele 1 thread uyandırır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notifyAll(): tüm bekleyenleri uyandırır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Genelde notifyAll() daha güvenlidir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6"/>
          <p:cNvSpPr/>
          <p:nvPr/>
        </p:nvSpPr>
        <p:spPr>
          <a:xfrm>
            <a:off x="5532120" y="3401640"/>
            <a:ext cx="3382920" cy="7768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7"/>
          <p:cNvSpPr/>
          <p:nvPr/>
        </p:nvSpPr>
        <p:spPr>
          <a:xfrm>
            <a:off x="5532120" y="3401640"/>
            <a:ext cx="3382920" cy="292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8"/>
          <p:cNvSpPr/>
          <p:nvPr/>
        </p:nvSpPr>
        <p:spPr>
          <a:xfrm>
            <a:off x="5641920" y="343800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Dikkat!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9"/>
          <p:cNvSpPr/>
          <p:nvPr/>
        </p:nvSpPr>
        <p:spPr>
          <a:xfrm>
            <a:off x="5641920" y="3749040"/>
            <a:ext cx="31816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Sadece synchronized blok içinde kullanılabilir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IllegalMonitorStateException riski mevcuttur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Producer-Consumer Deseni (wait/notify ile)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5"/>
          <p:cNvSpPr/>
          <p:nvPr/>
        </p:nvSpPr>
        <p:spPr>
          <a:xfrm>
            <a:off x="365760" y="80460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Klasik eşzamanlılık deseni: Üretici veri üretir, tüketici işler. wait/notify ile senkronize edilir.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6"/>
          <p:cNvSpPr/>
          <p:nvPr/>
        </p:nvSpPr>
        <p:spPr>
          <a:xfrm>
            <a:off x="320040" y="1243440"/>
            <a:ext cx="8503560" cy="310860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7"/>
          <p:cNvSpPr/>
          <p:nvPr/>
        </p:nvSpPr>
        <p:spPr>
          <a:xfrm>
            <a:off x="457200" y="1353240"/>
            <a:ext cx="8247600" cy="29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class Buffer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private Queue&lt;Integer&gt; queue = new LinkedList&lt;&gt;();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private final int LIMIT = 5;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public synchronized void produce(int val) throws InterruptedException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while (queue.size() == LIMIT) wait();  // Dolu ise bekle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queue.add(val);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System.out.println("Üretildi: " + val);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notifyAll();  // Tüketicileri uyandır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public synchronized int consume() throws InterruptedException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while (queue.isEmpty()) wait();  // Boş ise bekle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int val = queue.poll();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System.out.println("Tüketildi: " + val);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notifyAll();  // Üreticileri uyandır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return val;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8"/>
          <p:cNvSpPr/>
          <p:nvPr/>
        </p:nvSpPr>
        <p:spPr>
          <a:xfrm>
            <a:off x="320040" y="4462200"/>
            <a:ext cx="4114440" cy="68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9"/>
          <p:cNvSpPr/>
          <p:nvPr/>
        </p:nvSpPr>
        <p:spPr>
          <a:xfrm>
            <a:off x="320040" y="4462200"/>
            <a:ext cx="4114440" cy="292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0"/>
          <p:cNvSpPr/>
          <p:nvPr/>
        </p:nvSpPr>
        <p:spPr>
          <a:xfrm>
            <a:off x="429840" y="4498920"/>
            <a:ext cx="3949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Üretici Akışı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1"/>
          <p:cNvSpPr/>
          <p:nvPr/>
        </p:nvSpPr>
        <p:spPr>
          <a:xfrm>
            <a:off x="429840" y="4809600"/>
            <a:ext cx="39132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Üret → Buffer dolu mu? → Evet: wait() | Hayır: ekle + notifyAll()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2"/>
          <p:cNvSpPr/>
          <p:nvPr/>
        </p:nvSpPr>
        <p:spPr>
          <a:xfrm>
            <a:off x="4709160" y="4462200"/>
            <a:ext cx="4114440" cy="68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13"/>
          <p:cNvSpPr/>
          <p:nvPr/>
        </p:nvSpPr>
        <p:spPr>
          <a:xfrm>
            <a:off x="4709160" y="4462200"/>
            <a:ext cx="4114440" cy="2923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4"/>
          <p:cNvSpPr/>
          <p:nvPr/>
        </p:nvSpPr>
        <p:spPr>
          <a:xfrm>
            <a:off x="4818960" y="4498920"/>
            <a:ext cx="3949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Tüketici Akışı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5"/>
          <p:cNvSpPr/>
          <p:nvPr/>
        </p:nvSpPr>
        <p:spPr>
          <a:xfrm>
            <a:off x="4818960" y="4809600"/>
            <a:ext cx="39132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Tüket → Buffer boş mu? → Evet: wait() | Hayır: al + notifyAll()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0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"/>
          <p:cNvSpPr/>
          <p:nvPr/>
        </p:nvSpPr>
        <p:spPr>
          <a:xfrm>
            <a:off x="0" y="5074920"/>
            <a:ext cx="9143640" cy="63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"/>
          <p:cNvSpPr/>
          <p:nvPr/>
        </p:nvSpPr>
        <p:spPr>
          <a:xfrm>
            <a:off x="457200" y="1280160"/>
            <a:ext cx="8229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BÖLÜM 4</a:t>
            </a:r>
            <a:endParaRPr lang="tr-T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3"/>
          <p:cNvSpPr/>
          <p:nvPr/>
        </p:nvSpPr>
        <p:spPr>
          <a:xfrm>
            <a:off x="914400" y="2651760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9CCE3"/>
                </a:solidFill>
                <a:effectLst/>
                <a:uFillTx/>
                <a:latin typeface="Calibri"/>
                <a:ea typeface="Calibri"/>
              </a:rPr>
              <a:t>Executor Service: Thread Pool Yönetimi</a:t>
            </a:r>
            <a:endParaRPr lang="tr-T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Executor Service Nedir?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5"/>
          <p:cNvSpPr/>
          <p:nvPr/>
        </p:nvSpPr>
        <p:spPr>
          <a:xfrm>
            <a:off x="365760" y="80460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java.util.concurrent.ExecutorService, thread oluşturmayı ve yönetimini soyutlar. Thread havuzları ile yüksek performanslı görev yönetimi sunar.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6"/>
          <p:cNvSpPr/>
          <p:nvPr/>
        </p:nvSpPr>
        <p:spPr>
          <a:xfrm>
            <a:off x="320040" y="1417320"/>
            <a:ext cx="1965600" cy="14626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7"/>
          <p:cNvSpPr/>
          <p:nvPr/>
        </p:nvSpPr>
        <p:spPr>
          <a:xfrm>
            <a:off x="320040" y="1481400"/>
            <a:ext cx="1965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Single Thread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Executor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8"/>
          <p:cNvSpPr/>
          <p:nvPr/>
        </p:nvSpPr>
        <p:spPr>
          <a:xfrm>
            <a:off x="320040" y="2240280"/>
            <a:ext cx="1965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Görevler sırayla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tek thread'de çalışır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9"/>
          <p:cNvSpPr/>
          <p:nvPr/>
        </p:nvSpPr>
        <p:spPr>
          <a:xfrm>
            <a:off x="2468880" y="1417320"/>
            <a:ext cx="1965600" cy="146268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0"/>
          <p:cNvSpPr/>
          <p:nvPr/>
        </p:nvSpPr>
        <p:spPr>
          <a:xfrm>
            <a:off x="2468880" y="1481400"/>
            <a:ext cx="1965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Fixed Thread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Pool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1"/>
          <p:cNvSpPr/>
          <p:nvPr/>
        </p:nvSpPr>
        <p:spPr>
          <a:xfrm>
            <a:off x="2468880" y="2240280"/>
            <a:ext cx="1965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Sabit sayıda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thread havuzu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2"/>
          <p:cNvSpPr/>
          <p:nvPr/>
        </p:nvSpPr>
        <p:spPr>
          <a:xfrm>
            <a:off x="4617720" y="1417320"/>
            <a:ext cx="1965600" cy="1462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3"/>
          <p:cNvSpPr/>
          <p:nvPr/>
        </p:nvSpPr>
        <p:spPr>
          <a:xfrm>
            <a:off x="4617720" y="1481400"/>
            <a:ext cx="1965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Cached Thread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Pool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4"/>
          <p:cNvSpPr/>
          <p:nvPr/>
        </p:nvSpPr>
        <p:spPr>
          <a:xfrm>
            <a:off x="4617720" y="2240280"/>
            <a:ext cx="1965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Dinamik büyüyen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thread havuzu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5"/>
          <p:cNvSpPr/>
          <p:nvPr/>
        </p:nvSpPr>
        <p:spPr>
          <a:xfrm>
            <a:off x="6766560" y="1417320"/>
            <a:ext cx="1965600" cy="1462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6"/>
          <p:cNvSpPr/>
          <p:nvPr/>
        </p:nvSpPr>
        <p:spPr>
          <a:xfrm>
            <a:off x="6766560" y="1481400"/>
            <a:ext cx="1965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Scheduled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Thread Pool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7"/>
          <p:cNvSpPr/>
          <p:nvPr/>
        </p:nvSpPr>
        <p:spPr>
          <a:xfrm>
            <a:off x="6766560" y="2240280"/>
            <a:ext cx="1965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Zamanlanmış ve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periyodik görevler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8"/>
          <p:cNvSpPr/>
          <p:nvPr/>
        </p:nvSpPr>
        <p:spPr>
          <a:xfrm>
            <a:off x="320040" y="3035880"/>
            <a:ext cx="8503560" cy="146268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9"/>
          <p:cNvSpPr/>
          <p:nvPr/>
        </p:nvSpPr>
        <p:spPr>
          <a:xfrm>
            <a:off x="457200" y="3145680"/>
            <a:ext cx="824760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ExecutorService exec = Executors.newFixedThreadPool(4);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exec.submit(() -&gt; System.out.println("Görev çalışıyor!"));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exec.shutdown();        // Yeni görev kabul etme, mevcutları tamamla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exec.awaitTermination(60, TimeUnit.SECONDS);  // Bitmesini bekle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Thread Pool Türleri — Karşılaştırma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5"/>
          <p:cNvSpPr/>
          <p:nvPr/>
        </p:nvSpPr>
        <p:spPr>
          <a:xfrm>
            <a:off x="320040" y="822960"/>
            <a:ext cx="416016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6"/>
          <p:cNvSpPr/>
          <p:nvPr/>
        </p:nvSpPr>
        <p:spPr>
          <a:xfrm>
            <a:off x="320040" y="822960"/>
            <a:ext cx="4160160" cy="292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7"/>
          <p:cNvSpPr/>
          <p:nvPr/>
        </p:nvSpPr>
        <p:spPr>
          <a:xfrm>
            <a:off x="429840" y="859680"/>
            <a:ext cx="399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newSingleThreadExecutor()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8"/>
          <p:cNvSpPr/>
          <p:nvPr/>
        </p:nvSpPr>
        <p:spPr>
          <a:xfrm>
            <a:off x="429840" y="1170360"/>
            <a:ext cx="39589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Tek thread ile sıralı görev çalıştırma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Thread ölürse otomatik yeni thread oluşur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Kullanım: Log yazma, görev sıralama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9"/>
          <p:cNvSpPr/>
          <p:nvPr/>
        </p:nvSpPr>
        <p:spPr>
          <a:xfrm>
            <a:off x="4663440" y="822960"/>
            <a:ext cx="416016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0"/>
          <p:cNvSpPr/>
          <p:nvPr/>
        </p:nvSpPr>
        <p:spPr>
          <a:xfrm>
            <a:off x="4663440" y="822960"/>
            <a:ext cx="4160160" cy="2923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1"/>
          <p:cNvSpPr/>
          <p:nvPr/>
        </p:nvSpPr>
        <p:spPr>
          <a:xfrm>
            <a:off x="4773240" y="859680"/>
            <a:ext cx="399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newFixedThreadPool(n)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2"/>
          <p:cNvSpPr/>
          <p:nvPr/>
        </p:nvSpPr>
        <p:spPr>
          <a:xfrm>
            <a:off x="4773240" y="1170360"/>
            <a:ext cx="39589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Sabit n adet thread; fazla görevler kuyrukta bekler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CPU çekirdek sayısına göre optimize edilebilir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Kullanım: Web sunucusu, batch işleme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3"/>
          <p:cNvSpPr/>
          <p:nvPr/>
        </p:nvSpPr>
        <p:spPr>
          <a:xfrm>
            <a:off x="320040" y="2011680"/>
            <a:ext cx="416016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4"/>
          <p:cNvSpPr/>
          <p:nvPr/>
        </p:nvSpPr>
        <p:spPr>
          <a:xfrm>
            <a:off x="320040" y="2011680"/>
            <a:ext cx="4160160" cy="292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5"/>
          <p:cNvSpPr/>
          <p:nvPr/>
        </p:nvSpPr>
        <p:spPr>
          <a:xfrm>
            <a:off x="429840" y="2048400"/>
            <a:ext cx="399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newCachedThreadPool()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6"/>
          <p:cNvSpPr/>
          <p:nvPr/>
        </p:nvSpPr>
        <p:spPr>
          <a:xfrm>
            <a:off x="429840" y="2359080"/>
            <a:ext cx="39589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Yük arttıkça thread sayısı büyür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60s boşta kalan thread'ler sonlandırılır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Kullanım: Çok sayıda kısa süreli async görev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7"/>
          <p:cNvSpPr/>
          <p:nvPr/>
        </p:nvSpPr>
        <p:spPr>
          <a:xfrm>
            <a:off x="4663440" y="2011680"/>
            <a:ext cx="416016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8"/>
          <p:cNvSpPr/>
          <p:nvPr/>
        </p:nvSpPr>
        <p:spPr>
          <a:xfrm>
            <a:off x="4663440" y="2011680"/>
            <a:ext cx="4160160" cy="292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9"/>
          <p:cNvSpPr/>
          <p:nvPr/>
        </p:nvSpPr>
        <p:spPr>
          <a:xfrm>
            <a:off x="4773240" y="2048400"/>
            <a:ext cx="399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newScheduledThreadPool(n)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0"/>
          <p:cNvSpPr/>
          <p:nvPr/>
        </p:nvSpPr>
        <p:spPr>
          <a:xfrm>
            <a:off x="4773240" y="2359080"/>
            <a:ext cx="39589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schedule(), scheduleAtFixedRate() desteği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Gecikme ve periyodik çalıştırma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Kullanım: Cron-benzeri arka plan görevleri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1"/>
          <p:cNvSpPr/>
          <p:nvPr/>
        </p:nvSpPr>
        <p:spPr>
          <a:xfrm>
            <a:off x="320040" y="3246120"/>
            <a:ext cx="8503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İdeal Thread Pool Boyutu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22"/>
          <p:cNvSpPr/>
          <p:nvPr/>
        </p:nvSpPr>
        <p:spPr>
          <a:xfrm>
            <a:off x="320040" y="3584520"/>
            <a:ext cx="4160160" cy="868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23"/>
          <p:cNvSpPr/>
          <p:nvPr/>
        </p:nvSpPr>
        <p:spPr>
          <a:xfrm>
            <a:off x="320040" y="3584520"/>
            <a:ext cx="4160160" cy="292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4"/>
          <p:cNvSpPr/>
          <p:nvPr/>
        </p:nvSpPr>
        <p:spPr>
          <a:xfrm>
            <a:off x="429840" y="3620880"/>
            <a:ext cx="399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CPU-Yoğun Görevler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5"/>
          <p:cNvSpPr/>
          <p:nvPr/>
        </p:nvSpPr>
        <p:spPr>
          <a:xfrm>
            <a:off x="429840" y="3931920"/>
            <a:ext cx="39589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Pool boyutu ≈ CPU çekirdek sayısı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Runtime.getRuntime().availableProcessors()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26"/>
          <p:cNvSpPr/>
          <p:nvPr/>
        </p:nvSpPr>
        <p:spPr>
          <a:xfrm>
            <a:off x="4663440" y="3584520"/>
            <a:ext cx="4160160" cy="868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27"/>
          <p:cNvSpPr/>
          <p:nvPr/>
        </p:nvSpPr>
        <p:spPr>
          <a:xfrm>
            <a:off x="4663440" y="3584520"/>
            <a:ext cx="4160160" cy="292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28"/>
          <p:cNvSpPr/>
          <p:nvPr/>
        </p:nvSpPr>
        <p:spPr>
          <a:xfrm>
            <a:off x="4773240" y="3620880"/>
            <a:ext cx="399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I/O-Yoğun Görevler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29"/>
          <p:cNvSpPr/>
          <p:nvPr/>
        </p:nvSpPr>
        <p:spPr>
          <a:xfrm>
            <a:off x="4773240" y="3931920"/>
            <a:ext cx="39589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Pool boyutu ≈ CPU × (1 + Bekleme/İşlem oranı)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Tipik olarak CPU sayısının 2-10 katı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0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"/>
          <p:cNvSpPr/>
          <p:nvPr/>
        </p:nvSpPr>
        <p:spPr>
          <a:xfrm>
            <a:off x="0" y="5074920"/>
            <a:ext cx="9143640" cy="63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"/>
          <p:cNvSpPr/>
          <p:nvPr/>
        </p:nvSpPr>
        <p:spPr>
          <a:xfrm>
            <a:off x="457200" y="1280160"/>
            <a:ext cx="8229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BÖLÜM 5</a:t>
            </a:r>
            <a:endParaRPr lang="tr-T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3"/>
          <p:cNvSpPr/>
          <p:nvPr/>
        </p:nvSpPr>
        <p:spPr>
          <a:xfrm>
            <a:off x="914400" y="2651760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9CCE3"/>
                </a:solidFill>
                <a:effectLst/>
                <a:uFillTx/>
                <a:latin typeface="Calibri"/>
                <a:ea typeface="Calibri"/>
              </a:rPr>
              <a:t>Callable, Future &amp; Senkronize Koleksiyonlar</a:t>
            </a:r>
            <a:endParaRPr lang="tr-T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Callable &amp; Future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5"/>
          <p:cNvSpPr/>
          <p:nvPr/>
        </p:nvSpPr>
        <p:spPr>
          <a:xfrm>
            <a:off x="365760" y="80460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Runnable'ın aksine Callable sonuç döndürebilir ve checked exception fırlatabilir. Future ise asenkron sonucu temsil eder.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6"/>
          <p:cNvSpPr/>
          <p:nvPr/>
        </p:nvSpPr>
        <p:spPr>
          <a:xfrm>
            <a:off x="320040" y="1334880"/>
            <a:ext cx="5028840" cy="292572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7"/>
          <p:cNvSpPr/>
          <p:nvPr/>
        </p:nvSpPr>
        <p:spPr>
          <a:xfrm>
            <a:off x="457200" y="1444680"/>
            <a:ext cx="4772880" cy="272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Callable&lt;Integer&gt; task = () -&gt;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Thread.sleep(2000);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return 42;  // Sonuç döndürür!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ExecutorService exec = Executors.newFixedThreadPool(2);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Future&lt;Integer&gt; future = exec.submit(task);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Diğer işlemleri yap...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boolean done = future.isDone();  // Bitti mi?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future.cancel(true);              // İptal et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Integer result = future.get();   // Bloklayarak bekle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Timeout ile: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Integer r = future.get(5, TimeUnit.SECONDS);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8"/>
          <p:cNvSpPr/>
          <p:nvPr/>
        </p:nvSpPr>
        <p:spPr>
          <a:xfrm>
            <a:off x="5532120" y="1334880"/>
            <a:ext cx="3382920" cy="12340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9"/>
          <p:cNvSpPr/>
          <p:nvPr/>
        </p:nvSpPr>
        <p:spPr>
          <a:xfrm>
            <a:off x="5532120" y="1334880"/>
            <a:ext cx="3382920" cy="292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0"/>
          <p:cNvSpPr/>
          <p:nvPr/>
        </p:nvSpPr>
        <p:spPr>
          <a:xfrm>
            <a:off x="5641920" y="137160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Future Metodları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1"/>
          <p:cNvSpPr/>
          <p:nvPr/>
        </p:nvSpPr>
        <p:spPr>
          <a:xfrm>
            <a:off x="5641920" y="1682640"/>
            <a:ext cx="318168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get() → Sonucu bloklayarak al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get(timeout, unit) → Timeout ile al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isDone() → Tamamlandı mı?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cancel(interrupt) → İptal et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isCancelled() → İptal edildi mi?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2"/>
          <p:cNvSpPr/>
          <p:nvPr/>
        </p:nvSpPr>
        <p:spPr>
          <a:xfrm>
            <a:off x="5532120" y="2660760"/>
            <a:ext cx="3382920" cy="1599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3"/>
          <p:cNvSpPr/>
          <p:nvPr/>
        </p:nvSpPr>
        <p:spPr>
          <a:xfrm>
            <a:off x="5532120" y="2660760"/>
            <a:ext cx="3382920" cy="292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4"/>
          <p:cNvSpPr/>
          <p:nvPr/>
        </p:nvSpPr>
        <p:spPr>
          <a:xfrm>
            <a:off x="5641920" y="269748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Dikkat Noktaları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5"/>
          <p:cNvSpPr/>
          <p:nvPr/>
        </p:nvSpPr>
        <p:spPr>
          <a:xfrm>
            <a:off x="5641920" y="3008520"/>
            <a:ext cx="3181680" cy="11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get() ExecutionException fırlatabilir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get() TimeoutException fırlatabilir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CompletableFuture daha modern alternatif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Callable checked exception destekler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ExecutorService.invokeAll() çoklu görev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Senkronize Koleksiyonlar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5"/>
          <p:cNvSpPr/>
          <p:nvPr/>
        </p:nvSpPr>
        <p:spPr>
          <a:xfrm>
            <a:off x="365760" y="80460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java.util.concurrent paketi thread-safe koleksiyonlar sunar. Eski Collections.synchronized*() sarmalayıcılara göre çok daha performanslıdır.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6"/>
          <p:cNvSpPr/>
          <p:nvPr/>
        </p:nvSpPr>
        <p:spPr>
          <a:xfrm>
            <a:off x="320040" y="1353240"/>
            <a:ext cx="4160160" cy="1508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7"/>
          <p:cNvSpPr/>
          <p:nvPr/>
        </p:nvSpPr>
        <p:spPr>
          <a:xfrm>
            <a:off x="320040" y="1353240"/>
            <a:ext cx="4160160" cy="292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8"/>
          <p:cNvSpPr/>
          <p:nvPr/>
        </p:nvSpPr>
        <p:spPr>
          <a:xfrm>
            <a:off x="429840" y="1389960"/>
            <a:ext cx="399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ConcurrentHashMap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9"/>
          <p:cNvSpPr/>
          <p:nvPr/>
        </p:nvSpPr>
        <p:spPr>
          <a:xfrm>
            <a:off x="429840" y="1700640"/>
            <a:ext cx="395892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HashMap'in thread-safe versiyonu. Segment bazlı kilitleme ile yüksek eş zamanlı erişim performansı.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0"/>
          <p:cNvSpPr/>
          <p:nvPr/>
        </p:nvSpPr>
        <p:spPr>
          <a:xfrm>
            <a:off x="4663440" y="1353240"/>
            <a:ext cx="4160160" cy="1508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1"/>
          <p:cNvSpPr/>
          <p:nvPr/>
        </p:nvSpPr>
        <p:spPr>
          <a:xfrm>
            <a:off x="4663440" y="1353240"/>
            <a:ext cx="4160160" cy="2923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2"/>
          <p:cNvSpPr/>
          <p:nvPr/>
        </p:nvSpPr>
        <p:spPr>
          <a:xfrm>
            <a:off x="4773240" y="1389960"/>
            <a:ext cx="399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CopyOnWriteArrayList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3"/>
          <p:cNvSpPr/>
          <p:nvPr/>
        </p:nvSpPr>
        <p:spPr>
          <a:xfrm>
            <a:off x="4773240" y="1700640"/>
            <a:ext cx="395892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Her yazma işleminde listeyi kopyalar. Okuma çok, yazma az olan senaryolar için idealdir.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4"/>
          <p:cNvSpPr/>
          <p:nvPr/>
        </p:nvSpPr>
        <p:spPr>
          <a:xfrm>
            <a:off x="320040" y="2999160"/>
            <a:ext cx="4160160" cy="1508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5"/>
          <p:cNvSpPr/>
          <p:nvPr/>
        </p:nvSpPr>
        <p:spPr>
          <a:xfrm>
            <a:off x="320040" y="2999160"/>
            <a:ext cx="4160160" cy="292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6"/>
          <p:cNvSpPr/>
          <p:nvPr/>
        </p:nvSpPr>
        <p:spPr>
          <a:xfrm>
            <a:off x="429840" y="3035880"/>
            <a:ext cx="399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BlockingQueue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7"/>
          <p:cNvSpPr/>
          <p:nvPr/>
        </p:nvSpPr>
        <p:spPr>
          <a:xfrm>
            <a:off x="429840" y="3346560"/>
            <a:ext cx="395892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Üretici-tüketici deseni için tasarlanmış. put() ve take() thread'leri otomatik bloklar.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8"/>
          <p:cNvSpPr/>
          <p:nvPr/>
        </p:nvSpPr>
        <p:spPr>
          <a:xfrm>
            <a:off x="4663440" y="2999160"/>
            <a:ext cx="4160160" cy="1508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9"/>
          <p:cNvSpPr/>
          <p:nvPr/>
        </p:nvSpPr>
        <p:spPr>
          <a:xfrm>
            <a:off x="4663440" y="2999160"/>
            <a:ext cx="4160160" cy="292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20"/>
          <p:cNvSpPr/>
          <p:nvPr/>
        </p:nvSpPr>
        <p:spPr>
          <a:xfrm>
            <a:off x="4773240" y="3035880"/>
            <a:ext cx="399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ConcurrentLinkedQueue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21"/>
          <p:cNvSpPr/>
          <p:nvPr/>
        </p:nvSpPr>
        <p:spPr>
          <a:xfrm>
            <a:off x="4773240" y="3346560"/>
            <a:ext cx="395892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Lock-free bağlantılı kuyruk. Yüksek throughput gerektiren senaryolar için uygundur.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CountDownLatch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5"/>
          <p:cNvSpPr/>
          <p:nvPr/>
        </p:nvSpPr>
        <p:spPr>
          <a:xfrm>
            <a:off x="365760" y="80460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Bir veya daha fazla thread'in, diğer N thread'in bir işlemi tamamlamasını beklemesini sağlayan senkronizasyon aracıdır.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6"/>
          <p:cNvSpPr/>
          <p:nvPr/>
        </p:nvSpPr>
        <p:spPr>
          <a:xfrm>
            <a:off x="320040" y="1298520"/>
            <a:ext cx="5028840" cy="301716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7"/>
          <p:cNvSpPr/>
          <p:nvPr/>
        </p:nvSpPr>
        <p:spPr>
          <a:xfrm>
            <a:off x="457200" y="1408320"/>
            <a:ext cx="477288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CountDownLatch latch = new CountDownLatch(3);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Runnable worker = () -&gt;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try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// İş yap...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System.out.println(Thread.currentThread().getName()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+ " tamamlandı");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 finally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latch.countDown();  // Sayacı 1 azalt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3 worker thread başlat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for (int i = 0; i &lt; 3; i++)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new Thread(worker).start();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latch.await();  // Sayaç 0 olana kadar bekle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System.out.println("Tüm işçiler bitti! Devam edelim.");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8"/>
          <p:cNvSpPr/>
          <p:nvPr/>
        </p:nvSpPr>
        <p:spPr>
          <a:xfrm>
            <a:off x="5532120" y="1298520"/>
            <a:ext cx="3382920" cy="95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9"/>
          <p:cNvSpPr/>
          <p:nvPr/>
        </p:nvSpPr>
        <p:spPr>
          <a:xfrm>
            <a:off x="5532120" y="1298520"/>
            <a:ext cx="3382920" cy="292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0"/>
          <p:cNvSpPr/>
          <p:nvPr/>
        </p:nvSpPr>
        <p:spPr>
          <a:xfrm>
            <a:off x="5641920" y="133488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Temel Metodlar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1"/>
          <p:cNvSpPr/>
          <p:nvPr/>
        </p:nvSpPr>
        <p:spPr>
          <a:xfrm>
            <a:off x="5641920" y="1645920"/>
            <a:ext cx="318168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CountDownLatch(n): n sayısı ile başlar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countDown(): sayacı 1 azaltır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await(): sayaç 0 olana kadar bekler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await(timeout, unit): zamanlı bekleme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2"/>
          <p:cNvSpPr/>
          <p:nvPr/>
        </p:nvSpPr>
        <p:spPr>
          <a:xfrm>
            <a:off x="5532120" y="2350080"/>
            <a:ext cx="338292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13"/>
          <p:cNvSpPr/>
          <p:nvPr/>
        </p:nvSpPr>
        <p:spPr>
          <a:xfrm>
            <a:off x="5532120" y="2350080"/>
            <a:ext cx="3382920" cy="2923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4"/>
          <p:cNvSpPr/>
          <p:nvPr/>
        </p:nvSpPr>
        <p:spPr>
          <a:xfrm>
            <a:off x="5641920" y="238644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Kullanım Senaryoları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5"/>
          <p:cNvSpPr/>
          <p:nvPr/>
        </p:nvSpPr>
        <p:spPr>
          <a:xfrm>
            <a:off x="5641920" y="2697480"/>
            <a:ext cx="3181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Paralel test başlatma başlangıç noktası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Birden fazla servis başlatılmasını bekleme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Batch işlem koordinasyonu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Integration test senkronizasyonu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16"/>
          <p:cNvSpPr/>
          <p:nvPr/>
        </p:nvSpPr>
        <p:spPr>
          <a:xfrm>
            <a:off x="5532120" y="3447360"/>
            <a:ext cx="3382920" cy="868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17"/>
          <p:cNvSpPr/>
          <p:nvPr/>
        </p:nvSpPr>
        <p:spPr>
          <a:xfrm>
            <a:off x="5532120" y="3447360"/>
            <a:ext cx="3382920" cy="292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8"/>
          <p:cNvSpPr/>
          <p:nvPr/>
        </p:nvSpPr>
        <p:spPr>
          <a:xfrm>
            <a:off x="5641920" y="348372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Önemli Kısıt!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9"/>
          <p:cNvSpPr/>
          <p:nvPr/>
        </p:nvSpPr>
        <p:spPr>
          <a:xfrm>
            <a:off x="5641920" y="3794760"/>
            <a:ext cx="31816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Sayaç SIFIRLANDIKTAN SONRA tekrar kullanılamaz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Yeniden kullanılabilir yapı için CyclicBarrier tercih edin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CyclicBarrier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5"/>
          <p:cNvSpPr/>
          <p:nvPr/>
        </p:nvSpPr>
        <p:spPr>
          <a:xfrm>
            <a:off x="365760" y="80460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N thread'in hepsi belirli bir noktaya gelene kadar birbirini beklemesini sağlar. CountDownLatch'in aksine yeniden kullanılabilir.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6"/>
          <p:cNvSpPr/>
          <p:nvPr/>
        </p:nvSpPr>
        <p:spPr>
          <a:xfrm>
            <a:off x="320040" y="1298520"/>
            <a:ext cx="5028840" cy="283428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7"/>
          <p:cNvSpPr/>
          <p:nvPr/>
        </p:nvSpPr>
        <p:spPr>
          <a:xfrm>
            <a:off x="457200" y="1408320"/>
            <a:ext cx="4772880" cy="26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CyclicBarrier barrier = new CyclicBarrier(3, () -&gt;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// Tüm thread'ler bariyere ulaşınca bu çalışır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System.out.println("Tüm thread'ler hazır! Faz tamamlandı.");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Runnable task = () -&gt;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try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System.out.println(Thread.currentThread().getName()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+ " 1. fazı tamamladı");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barrier.await();  // Diğerlerini bekle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System.out.println(Thread.currentThread().getName()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+ " 2. fazı tamamladı");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barrier.await();  // Yeniden kullanılabilir!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 catch (Exception e) { e.printStackTrace();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8"/>
          <p:cNvSpPr/>
          <p:nvPr/>
        </p:nvSpPr>
        <p:spPr>
          <a:xfrm>
            <a:off x="5532120" y="1298520"/>
            <a:ext cx="3382920" cy="1371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9"/>
          <p:cNvSpPr/>
          <p:nvPr/>
        </p:nvSpPr>
        <p:spPr>
          <a:xfrm>
            <a:off x="5532120" y="1298520"/>
            <a:ext cx="3382920" cy="292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0"/>
          <p:cNvSpPr/>
          <p:nvPr/>
        </p:nvSpPr>
        <p:spPr>
          <a:xfrm>
            <a:off x="5641920" y="133488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CountDownLatch vs CyclicBarrier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1"/>
          <p:cNvSpPr/>
          <p:nvPr/>
        </p:nvSpPr>
        <p:spPr>
          <a:xfrm>
            <a:off x="5641920" y="1645920"/>
            <a:ext cx="318168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CountDownLatch: Tek kullanımlık sayaç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CyclicBarrier: Yeniden kullanılabilir bariyer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CountDownLatch: Bir thread N thread'i bekler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CyclicBarrier: N thread birbirini bekler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CyclicBarrier: İsteğe bağlı Runnable aksiyon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12"/>
          <p:cNvSpPr/>
          <p:nvPr/>
        </p:nvSpPr>
        <p:spPr>
          <a:xfrm>
            <a:off x="5532120" y="2761560"/>
            <a:ext cx="3382920" cy="1371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3"/>
          <p:cNvSpPr/>
          <p:nvPr/>
        </p:nvSpPr>
        <p:spPr>
          <a:xfrm>
            <a:off x="5532120" y="2761560"/>
            <a:ext cx="3382920" cy="2923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4"/>
          <p:cNvSpPr/>
          <p:nvPr/>
        </p:nvSpPr>
        <p:spPr>
          <a:xfrm>
            <a:off x="5641920" y="279792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Kullanım Alanları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5"/>
          <p:cNvSpPr/>
          <p:nvPr/>
        </p:nvSpPr>
        <p:spPr>
          <a:xfrm>
            <a:off x="5641920" y="3108960"/>
            <a:ext cx="318168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Çok aşamalı paralel hesaplamalar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Oyun turları / simülasyon fazları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Paralel algoritma senkronizasyonu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Distributed sistemlerde adım koordinasyonu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Exchanger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5"/>
          <p:cNvSpPr/>
          <p:nvPr/>
        </p:nvSpPr>
        <p:spPr>
          <a:xfrm>
            <a:off x="365760" y="80460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İki thread arasında veri değiş tokuşu yapılmasını sağlayan senkronizasyon noktasıdır. Her iki thread exchange() noktasında birbirini bekler.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6"/>
          <p:cNvSpPr/>
          <p:nvPr/>
        </p:nvSpPr>
        <p:spPr>
          <a:xfrm>
            <a:off x="320040" y="1334880"/>
            <a:ext cx="5028840" cy="283428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7"/>
          <p:cNvSpPr/>
          <p:nvPr/>
        </p:nvSpPr>
        <p:spPr>
          <a:xfrm>
            <a:off x="457200" y="1444680"/>
            <a:ext cx="4772880" cy="26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Exchanger&lt;String&gt; exchanger = new Exchanger&lt;&gt;();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Thread producer = new Thread(() -&gt;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String data = "Üreticiden veri";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try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String received = exchanger.exchange(data);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System.out.println("Üretici aldı: " + received);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 catch (InterruptedException e) { ...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Thread consumer = new Thread(() -&gt;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String data = "Tüketiciden yanıt";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try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String received = exchanger.exchange(data);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System.out.println("Tüketici aldı: " + received);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 catch (InterruptedException e) { ...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8"/>
          <p:cNvSpPr/>
          <p:nvPr/>
        </p:nvSpPr>
        <p:spPr>
          <a:xfrm>
            <a:off x="5532120" y="1334880"/>
            <a:ext cx="3382920" cy="1188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9"/>
          <p:cNvSpPr/>
          <p:nvPr/>
        </p:nvSpPr>
        <p:spPr>
          <a:xfrm>
            <a:off x="5532120" y="1334880"/>
            <a:ext cx="3382920" cy="292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0"/>
          <p:cNvSpPr/>
          <p:nvPr/>
        </p:nvSpPr>
        <p:spPr>
          <a:xfrm>
            <a:off x="5641920" y="137160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Nasıl Çalışır?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1"/>
          <p:cNvSpPr/>
          <p:nvPr/>
        </p:nvSpPr>
        <p:spPr>
          <a:xfrm>
            <a:off x="5641920" y="1682640"/>
            <a:ext cx="318168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Thread A, exchange() çağırarak bekler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Thread B, exchange() çağırarak bekler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Her iki thread hazır olunca veri takas edilir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Sadece iki thread arasında çalışır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2"/>
          <p:cNvSpPr/>
          <p:nvPr/>
        </p:nvSpPr>
        <p:spPr>
          <a:xfrm>
            <a:off x="5532120" y="2615040"/>
            <a:ext cx="3382920" cy="1554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3"/>
          <p:cNvSpPr/>
          <p:nvPr/>
        </p:nvSpPr>
        <p:spPr>
          <a:xfrm>
            <a:off x="5532120" y="2615040"/>
            <a:ext cx="3382920" cy="2923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4"/>
          <p:cNvSpPr/>
          <p:nvPr/>
        </p:nvSpPr>
        <p:spPr>
          <a:xfrm>
            <a:off x="5641920" y="265176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Kullanım Senaryoları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5"/>
          <p:cNvSpPr/>
          <p:nvPr/>
        </p:nvSpPr>
        <p:spPr>
          <a:xfrm>
            <a:off x="5641920" y="2962800"/>
            <a:ext cx="318168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Pipeline tasarımlarında veri aktarımı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Çift tampon (double buffering) uygulamaları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Producer-Consumer arasında veri senkronizasyonu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Genetik algoritma çaprazlama operasyonu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Test senaryolarında thread koordinasyonu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0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"/>
          <p:cNvSpPr/>
          <p:nvPr/>
        </p:nvSpPr>
        <p:spPr>
          <a:xfrm>
            <a:off x="0" y="5074920"/>
            <a:ext cx="9143640" cy="63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2"/>
          <p:cNvSpPr/>
          <p:nvPr/>
        </p:nvSpPr>
        <p:spPr>
          <a:xfrm>
            <a:off x="457200" y="1280160"/>
            <a:ext cx="8229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BÖLÜM 6</a:t>
            </a:r>
            <a:endParaRPr lang="tr-T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3"/>
          <p:cNvSpPr/>
          <p:nvPr/>
        </p:nvSpPr>
        <p:spPr>
          <a:xfrm>
            <a:off x="914400" y="2651760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9CCE3"/>
                </a:solidFill>
                <a:effectLst/>
                <a:uFillTx/>
                <a:latin typeface="Calibri"/>
                <a:ea typeface="Calibri"/>
              </a:rPr>
              <a:t>Lock Mekanizmaları: ReentrantLock, ReadWriteLock</a:t>
            </a:r>
            <a:endParaRPr lang="tr-T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Neden Lock'lara İhtiyaç Var?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5"/>
          <p:cNvSpPr/>
          <p:nvPr/>
        </p:nvSpPr>
        <p:spPr>
          <a:xfrm>
            <a:off x="365760" y="80460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synchronized keyword'ün kısıtlamalarını aşmak için java.util.concurrent.locks paketi daha güçlü ve esnek kilitleme mekanizmaları sunar.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6"/>
          <p:cNvSpPr/>
          <p:nvPr/>
        </p:nvSpPr>
        <p:spPr>
          <a:xfrm>
            <a:off x="320040" y="1334880"/>
            <a:ext cx="4160160" cy="1371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7"/>
          <p:cNvSpPr/>
          <p:nvPr/>
        </p:nvSpPr>
        <p:spPr>
          <a:xfrm>
            <a:off x="320040" y="1334880"/>
            <a:ext cx="4160160" cy="292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8"/>
          <p:cNvSpPr/>
          <p:nvPr/>
        </p:nvSpPr>
        <p:spPr>
          <a:xfrm>
            <a:off x="429840" y="1371600"/>
            <a:ext cx="399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synchronized Kısıtları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9"/>
          <p:cNvSpPr/>
          <p:nvPr/>
        </p:nvSpPr>
        <p:spPr>
          <a:xfrm>
            <a:off x="429840" y="1682640"/>
            <a:ext cx="39589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Kilidi denenemez (tryLock desteği yok)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Zaman aşımlı kilitleme desteklenmiyor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Kilitler interrupt edilemez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Okuma/Yazma kilitleri ayrılamaz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Adil (fair) kilitleme garanti edilmiyor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0"/>
          <p:cNvSpPr/>
          <p:nvPr/>
        </p:nvSpPr>
        <p:spPr>
          <a:xfrm>
            <a:off x="4663440" y="1334880"/>
            <a:ext cx="4160160" cy="1371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1"/>
          <p:cNvSpPr/>
          <p:nvPr/>
        </p:nvSpPr>
        <p:spPr>
          <a:xfrm>
            <a:off x="4663440" y="1334880"/>
            <a:ext cx="4160160" cy="292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2"/>
          <p:cNvSpPr/>
          <p:nvPr/>
        </p:nvSpPr>
        <p:spPr>
          <a:xfrm>
            <a:off x="4773240" y="1371600"/>
            <a:ext cx="399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Lock Avantajları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3"/>
          <p:cNvSpPr/>
          <p:nvPr/>
        </p:nvSpPr>
        <p:spPr>
          <a:xfrm>
            <a:off x="4773240" y="1682640"/>
            <a:ext cx="39589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tryLock() ile kilidi deneme imkânı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tryLock(timeout) ile zamanlı kilitleme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lockInterruptibly() ile interrupt desteği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ReadWriteLock ile okuma optimizasyonu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Fair/Unfair mod seçeneği mevcut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14"/>
          <p:cNvSpPr/>
          <p:nvPr/>
        </p:nvSpPr>
        <p:spPr>
          <a:xfrm>
            <a:off x="320040" y="2816280"/>
            <a:ext cx="8503560" cy="159984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5"/>
          <p:cNvSpPr/>
          <p:nvPr/>
        </p:nvSpPr>
        <p:spPr>
          <a:xfrm>
            <a:off x="457200" y="2926080"/>
            <a:ext cx="8247600" cy="13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ReentrantLock lock = new ReentrantLock(true); // fair=true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if (lock.tryLock(500, TimeUnit.MILLISECONDS))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try { /* kritik bölge */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finally { lock.unlock(); }  // finally bloğu şart!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 else { System.out.println("Kilitlenemiyor, alternatif yol");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Condition (Lock Üzerinde)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5"/>
          <p:cNvSpPr/>
          <p:nvPr/>
        </p:nvSpPr>
        <p:spPr>
          <a:xfrm>
            <a:off x="365760" y="80460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Lock.newCondition() ile wait/notify'a benzer ama çok daha esnek koşul bazlı bekleme/uyandırma mekanizması oluşturulabilir.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6"/>
          <p:cNvSpPr/>
          <p:nvPr/>
        </p:nvSpPr>
        <p:spPr>
          <a:xfrm>
            <a:off x="320040" y="1298520"/>
            <a:ext cx="5028840" cy="301716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7"/>
          <p:cNvSpPr/>
          <p:nvPr/>
        </p:nvSpPr>
        <p:spPr>
          <a:xfrm>
            <a:off x="457200" y="1408320"/>
            <a:ext cx="477288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ReentrantLock lock = new ReentrantLock();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Condition notFull = lock.newCondition();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Condition notEmpty = lock.newCondition();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Üretici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lock.lock();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try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while (queue.size() == LIMIT)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notFull.await();  // wait() yerine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queue.add(item);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notEmpty.signal();   // notify() yerine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 finally { lock.unlock();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Tüketici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lock.lock();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try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while (queue.isEmpty())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notEmpty.await();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int item = queue.poll();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notFull.signal();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 finally { lock.unlock();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8"/>
          <p:cNvSpPr/>
          <p:nvPr/>
        </p:nvSpPr>
        <p:spPr>
          <a:xfrm>
            <a:off x="5532120" y="1298520"/>
            <a:ext cx="3382920" cy="1371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9"/>
          <p:cNvSpPr/>
          <p:nvPr/>
        </p:nvSpPr>
        <p:spPr>
          <a:xfrm>
            <a:off x="5532120" y="1298520"/>
            <a:ext cx="3382920" cy="292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0"/>
          <p:cNvSpPr/>
          <p:nvPr/>
        </p:nvSpPr>
        <p:spPr>
          <a:xfrm>
            <a:off x="5641920" y="133488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wait/notify vs Condition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1"/>
          <p:cNvSpPr/>
          <p:nvPr/>
        </p:nvSpPr>
        <p:spPr>
          <a:xfrm>
            <a:off x="5641920" y="1645920"/>
            <a:ext cx="318168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Bir Lock'a birden fazla Condition tanımlanabilir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notFull ve notEmpty ayrı Condition'lar olabilir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await() = wait(), signal() = notify()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await(time, unit) ile timeout desteği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awaitUntil(Date) ile kesin zaman bekleme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2"/>
          <p:cNvSpPr/>
          <p:nvPr/>
        </p:nvSpPr>
        <p:spPr>
          <a:xfrm>
            <a:off x="5532120" y="2761560"/>
            <a:ext cx="3382920" cy="1554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13"/>
          <p:cNvSpPr/>
          <p:nvPr/>
        </p:nvSpPr>
        <p:spPr>
          <a:xfrm>
            <a:off x="5532120" y="2761560"/>
            <a:ext cx="3382920" cy="292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4"/>
          <p:cNvSpPr/>
          <p:nvPr/>
        </p:nvSpPr>
        <p:spPr>
          <a:xfrm>
            <a:off x="5641920" y="279792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Avantajlar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5"/>
          <p:cNvSpPr/>
          <p:nvPr/>
        </p:nvSpPr>
        <p:spPr>
          <a:xfrm>
            <a:off x="5641920" y="3108960"/>
            <a:ext cx="318168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Belirli koşullar için ayrı sinyal kanalları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Yanlış uyandırma (spurious wakeup) koruması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Daha ince granüler kontrol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interrupt desteği (awaitUninterruptibly())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Producer-Consumer'ı daha verimli yapar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ReentrantLock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5"/>
          <p:cNvSpPr/>
          <p:nvPr/>
        </p:nvSpPr>
        <p:spPr>
          <a:xfrm>
            <a:off x="365760" y="80460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Aynı thread kilidi birden fazla kez alabilir (reentrant = yeniden girebilir). İç içe çağrıları olan metodlar için kritik öneme sahiptir.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6"/>
          <p:cNvSpPr/>
          <p:nvPr/>
        </p:nvSpPr>
        <p:spPr>
          <a:xfrm>
            <a:off x="320040" y="1298520"/>
            <a:ext cx="5028840" cy="301716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7"/>
          <p:cNvSpPr/>
          <p:nvPr/>
        </p:nvSpPr>
        <p:spPr>
          <a:xfrm>
            <a:off x="457200" y="1408320"/>
            <a:ext cx="477288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ReentrantLock lock = new ReentrantLock();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public void methodA()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lock.lock();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try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methodB();  // Aynı thread, aynı kilidi yeniden alır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 finally { lock.unlock();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public void methodB()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lock.lock();  // Reentrant: kilitlenmez!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try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// Hold count = 2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System.out.println("Hold count: "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+ lock.getHoldCount());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 finally { lock.unlock();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// Hold count = 1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methodA bittikten sonra hold count = 0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8"/>
          <p:cNvSpPr/>
          <p:nvPr/>
        </p:nvSpPr>
        <p:spPr>
          <a:xfrm>
            <a:off x="5532120" y="1298520"/>
            <a:ext cx="3382920" cy="1371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9"/>
          <p:cNvSpPr/>
          <p:nvPr/>
        </p:nvSpPr>
        <p:spPr>
          <a:xfrm>
            <a:off x="5532120" y="1298520"/>
            <a:ext cx="3382920" cy="292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0"/>
          <p:cNvSpPr/>
          <p:nvPr/>
        </p:nvSpPr>
        <p:spPr>
          <a:xfrm>
            <a:off x="5641920" y="133488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Önemli Özellikler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11"/>
          <p:cNvSpPr/>
          <p:nvPr/>
        </p:nvSpPr>
        <p:spPr>
          <a:xfrm>
            <a:off x="5641920" y="1645920"/>
            <a:ext cx="318168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getHoldCount(): Kilidi kaç kez aldığı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getQueueLength(): Bekleyen thread sayısı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isHeldByCurrentThread(): Mevcut thread mi tutuyor?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isLocked(): Kilitli mi?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Fair mod: FIFO sıralamasıyla adil dağıtım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12"/>
          <p:cNvSpPr/>
          <p:nvPr/>
        </p:nvSpPr>
        <p:spPr>
          <a:xfrm>
            <a:off x="5532120" y="2761560"/>
            <a:ext cx="3382920" cy="1554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13"/>
          <p:cNvSpPr/>
          <p:nvPr/>
        </p:nvSpPr>
        <p:spPr>
          <a:xfrm>
            <a:off x="5532120" y="2761560"/>
            <a:ext cx="3382920" cy="292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4"/>
          <p:cNvSpPr/>
          <p:nvPr/>
        </p:nvSpPr>
        <p:spPr>
          <a:xfrm>
            <a:off x="5641920" y="279792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En İyi Pratikler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5"/>
          <p:cNvSpPr/>
          <p:nvPr/>
        </p:nvSpPr>
        <p:spPr>
          <a:xfrm>
            <a:off x="5641920" y="3108960"/>
            <a:ext cx="318168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Her lock.lock() için finally'de unlock() zorunlu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Kilidi mümkün olduğunca kısa tut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Kilit içinde uzun bloklayan işlem yapma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tryLock() ile deadlock'tan kaçın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Fair mod performansı düşürür, dikkatli seç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ReadWriteLock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5"/>
          <p:cNvSpPr/>
          <p:nvPr/>
        </p:nvSpPr>
        <p:spPr>
          <a:xfrm>
            <a:off x="365760" y="80460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Birden fazla okuyucu aynı anda okuyabilir ancak yazma işlemi exclusive erişim gerektirir. Okuma ağırlıklı sistemlerde büyük performans artışı sağlar.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6"/>
          <p:cNvSpPr/>
          <p:nvPr/>
        </p:nvSpPr>
        <p:spPr>
          <a:xfrm>
            <a:off x="320040" y="1334880"/>
            <a:ext cx="5028840" cy="228564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7"/>
          <p:cNvSpPr/>
          <p:nvPr/>
        </p:nvSpPr>
        <p:spPr>
          <a:xfrm>
            <a:off x="457200" y="1444680"/>
            <a:ext cx="4772880" cy="20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ReadWriteLock rwLock = new ReentrantReadWriteLock();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Lock readLock = rwLock.readLock();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Lock writeLock = rwLock.writeLock();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Okuma - eş zamanlı birden fazla thread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readLock.lock();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try { return sharedData;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finally { readLock.unlock();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Yazma - exclusive erişim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writeLock.lock();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try { sharedData = newValue;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finally { writeLock.unlock();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8"/>
          <p:cNvSpPr/>
          <p:nvPr/>
        </p:nvSpPr>
        <p:spPr>
          <a:xfrm>
            <a:off x="320040" y="3749040"/>
            <a:ext cx="8503560" cy="914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9"/>
          <p:cNvSpPr/>
          <p:nvPr/>
        </p:nvSpPr>
        <p:spPr>
          <a:xfrm>
            <a:off x="457200" y="379476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Eş Zamanlı Durum Matrisi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97" name="Table 0"/>
          <p:cNvGraphicFramePr/>
          <p:nvPr/>
        </p:nvGraphicFramePr>
        <p:xfrm>
          <a:off x="2743200" y="3749040"/>
          <a:ext cx="6034680" cy="91404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</a:tblGrid>
              <a:tr h="304560">
                <a:tc>
                  <a:txBody>
                    <a:bodyPr anchor="t">
                      <a:noAutofit/>
                    </a:bodyPr>
                    <a:p>
                      <a:endParaRPr lang="en-US" sz="11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Okuma İsteği</a:t>
                      </a:r>
                      <a:endParaRPr lang="tr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Yazma İsteği</a:t>
                      </a:r>
                      <a:endParaRPr lang="tr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Okuma Yapılıyor</a:t>
                      </a:r>
                      <a:endParaRPr lang="tr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✔ İzin Ver</a:t>
                      </a:r>
                      <a:endParaRPr lang="tr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✘ Bekle</a:t>
                      </a:r>
                      <a:endParaRPr lang="tr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Yazma Yapılıyor</a:t>
                      </a:r>
                      <a:endParaRPr lang="tr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✘ Bekle</a:t>
                      </a:r>
                      <a:endParaRPr lang="tr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✘ Bekle</a:t>
                      </a:r>
                      <a:endParaRPr lang="tr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5DCE4"/>
                      </a:solidFill>
                      <a:prstDash val="solid"/>
                    </a:lnL>
                    <a:lnR w="6480">
                      <a:solidFill>
                        <a:srgbClr val="D5DCE4"/>
                      </a:solidFill>
                      <a:prstDash val="solid"/>
                    </a:lnR>
                    <a:lnT w="6480">
                      <a:solidFill>
                        <a:srgbClr val="D5DCE4"/>
                      </a:solidFill>
                      <a:prstDash val="solid"/>
                    </a:lnT>
                    <a:lnB w="6480">
                      <a:solidFill>
                        <a:srgbClr val="D5DCE4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98" name="Shape 10"/>
          <p:cNvSpPr/>
          <p:nvPr/>
        </p:nvSpPr>
        <p:spPr>
          <a:xfrm>
            <a:off x="5440680" y="1334880"/>
            <a:ext cx="3382920" cy="2285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11"/>
          <p:cNvSpPr/>
          <p:nvPr/>
        </p:nvSpPr>
        <p:spPr>
          <a:xfrm>
            <a:off x="5440680" y="1334880"/>
            <a:ext cx="3382920" cy="292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2"/>
          <p:cNvSpPr/>
          <p:nvPr/>
        </p:nvSpPr>
        <p:spPr>
          <a:xfrm>
            <a:off x="5550480" y="137160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Kullanım Kılavuzu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13"/>
          <p:cNvSpPr/>
          <p:nvPr/>
        </p:nvSpPr>
        <p:spPr>
          <a:xfrm>
            <a:off x="5550480" y="1682640"/>
            <a:ext cx="3181680" cy="186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Okuma &gt;&gt; Yazma → ReadWriteLock ideal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Yoğun yazma → normal ReentrantLock daha iyi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StampedLock (Java 8+) daha optimize alternatif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Okuma kilitliyken yazma kilidi alınamaz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Yazma kilidi serbest kalana tüm okumalar bekler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Shape 0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1"/>
          <p:cNvSpPr/>
          <p:nvPr/>
        </p:nvSpPr>
        <p:spPr>
          <a:xfrm>
            <a:off x="0" y="5074920"/>
            <a:ext cx="9143640" cy="63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2"/>
          <p:cNvSpPr/>
          <p:nvPr/>
        </p:nvSpPr>
        <p:spPr>
          <a:xfrm>
            <a:off x="457200" y="1280160"/>
            <a:ext cx="8229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BÖLÜM 7</a:t>
            </a:r>
            <a:endParaRPr lang="tr-T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3"/>
          <p:cNvSpPr/>
          <p:nvPr/>
        </p:nvSpPr>
        <p:spPr>
          <a:xfrm>
            <a:off x="914400" y="2651760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9CCE3"/>
                </a:solidFill>
                <a:effectLst/>
                <a:uFillTx/>
                <a:latin typeface="Calibri"/>
                <a:ea typeface="Calibri"/>
              </a:rPr>
              <a:t>Visibility, Deadlock, Atomic Variables &amp; Semaphore</a:t>
            </a:r>
            <a:endParaRPr lang="tr-T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Görünürlük Sorunu (Visibility Problem) &amp; volatile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5"/>
          <p:cNvSpPr/>
          <p:nvPr/>
        </p:nvSpPr>
        <p:spPr>
          <a:xfrm>
            <a:off x="365760" y="80460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CPU önbelleği nedeniyle bir thread'in değişken değişikliği başka thread'ler tarafından görülmeyebilir. volatile bu sorunu çözer.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6"/>
          <p:cNvSpPr/>
          <p:nvPr/>
        </p:nvSpPr>
        <p:spPr>
          <a:xfrm>
            <a:off x="320040" y="1334880"/>
            <a:ext cx="5028840" cy="255996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7"/>
          <p:cNvSpPr/>
          <p:nvPr/>
        </p:nvSpPr>
        <p:spPr>
          <a:xfrm>
            <a:off x="457200" y="1444680"/>
            <a:ext cx="4772880" cy="23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SORUN: flag değişikliği diğer thread'e görünmeyebilir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class Worker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private boolean running = true;  // volatile değil!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public void stop() { running = false;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public void run()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while (running) { /* Sonsuz döngü kalabilir! */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ÇÖZÜM: volatile ile her zaman ana bellekten okur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class SafeWorker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private volatile boolean running = true;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public void stop() { running = false; }  // Hemen görünür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public void run()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while (running) { /* Güvenli */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8"/>
          <p:cNvSpPr/>
          <p:nvPr/>
        </p:nvSpPr>
        <p:spPr>
          <a:xfrm>
            <a:off x="5532120" y="1334880"/>
            <a:ext cx="3382920" cy="1371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9"/>
          <p:cNvSpPr/>
          <p:nvPr/>
        </p:nvSpPr>
        <p:spPr>
          <a:xfrm>
            <a:off x="5532120" y="1334880"/>
            <a:ext cx="3382920" cy="292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0"/>
          <p:cNvSpPr/>
          <p:nvPr/>
        </p:nvSpPr>
        <p:spPr>
          <a:xfrm>
            <a:off x="5641920" y="137160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volatile Garantiler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1"/>
          <p:cNvSpPr/>
          <p:nvPr/>
        </p:nvSpPr>
        <p:spPr>
          <a:xfrm>
            <a:off x="5641920" y="1682640"/>
            <a:ext cx="318168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Değişken her zaman ana bellekten okunur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Yazma işlemi direkt ana belleğe yapılır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CPU cache flush'ı otomatik gerçekleşir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Atomik okuma/yazma garantisi (long/double hariç)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happens-before ilişkisi sağlar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12"/>
          <p:cNvSpPr/>
          <p:nvPr/>
        </p:nvSpPr>
        <p:spPr>
          <a:xfrm>
            <a:off x="5532120" y="2797920"/>
            <a:ext cx="338292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13"/>
          <p:cNvSpPr/>
          <p:nvPr/>
        </p:nvSpPr>
        <p:spPr>
          <a:xfrm>
            <a:off x="5532120" y="2797920"/>
            <a:ext cx="3382920" cy="292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14"/>
          <p:cNvSpPr/>
          <p:nvPr/>
        </p:nvSpPr>
        <p:spPr>
          <a:xfrm>
            <a:off x="5641920" y="283464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volatile Yetmediği Durumlar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15"/>
          <p:cNvSpPr/>
          <p:nvPr/>
        </p:nvSpPr>
        <p:spPr>
          <a:xfrm>
            <a:off x="5641920" y="3145680"/>
            <a:ext cx="31816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i++ gibi compound işlemlerde atomiklik yok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Check-then-act işlemleri için yetersiz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Bu durumlarda synchronized veya Atomic kullanın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Deadlock (Kilitlenme)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5"/>
          <p:cNvSpPr/>
          <p:nvPr/>
        </p:nvSpPr>
        <p:spPr>
          <a:xfrm>
            <a:off x="365760" y="80460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İki veya daha fazla thread birbirinin tuttuğu kaynakları beklerken oluşan ve hiçbirinin ilerleyemediği durumdur.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6"/>
          <p:cNvSpPr/>
          <p:nvPr/>
        </p:nvSpPr>
        <p:spPr>
          <a:xfrm>
            <a:off x="320040" y="1261800"/>
            <a:ext cx="5028840" cy="255996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7"/>
          <p:cNvSpPr/>
          <p:nvPr/>
        </p:nvSpPr>
        <p:spPr>
          <a:xfrm>
            <a:off x="457200" y="1371600"/>
            <a:ext cx="4772880" cy="23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Object lockA = new Object();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Object lockB = new Object();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Thread 1: lockA → lockB sırası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Thread t1 = new Thread(() -&gt;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synchronized (lockA)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Thread.sleep(100);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synchronized (lockB) { /* ... */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Thread 2: lockB → lockA sırası → DEADLOCK!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Thread t2 = new Thread(() -&gt;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synchronized (lockB)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Thread.sleep(100);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synchronized (lockA) { /* ... */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8"/>
          <p:cNvSpPr/>
          <p:nvPr/>
        </p:nvSpPr>
        <p:spPr>
          <a:xfrm>
            <a:off x="5532120" y="1261800"/>
            <a:ext cx="3382920" cy="1188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9"/>
          <p:cNvSpPr/>
          <p:nvPr/>
        </p:nvSpPr>
        <p:spPr>
          <a:xfrm>
            <a:off x="5532120" y="1261800"/>
            <a:ext cx="3382920" cy="292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10"/>
          <p:cNvSpPr/>
          <p:nvPr/>
        </p:nvSpPr>
        <p:spPr>
          <a:xfrm>
            <a:off x="5641920" y="129852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Deadlock Koşulları (4'ü birden)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11"/>
          <p:cNvSpPr/>
          <p:nvPr/>
        </p:nvSpPr>
        <p:spPr>
          <a:xfrm>
            <a:off x="5641920" y="1609200"/>
            <a:ext cx="318168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1. Mutual Exclusion: Kaynak paylaşılamaz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2. Hold &amp; Wait: Kaynak tutarken başkasını bekler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3. No Preemption: Kaynak geri alınamaz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4. Circular Wait: Dairesel bağımlılık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12"/>
          <p:cNvSpPr/>
          <p:nvPr/>
        </p:nvSpPr>
        <p:spPr>
          <a:xfrm>
            <a:off x="5532120" y="2541960"/>
            <a:ext cx="3382920" cy="1737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13"/>
          <p:cNvSpPr/>
          <p:nvPr/>
        </p:nvSpPr>
        <p:spPr>
          <a:xfrm>
            <a:off x="5532120" y="2541960"/>
            <a:ext cx="3382920" cy="292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14"/>
          <p:cNvSpPr/>
          <p:nvPr/>
        </p:nvSpPr>
        <p:spPr>
          <a:xfrm>
            <a:off x="5641920" y="257868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Deadlock Önleme Stratejileri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5"/>
          <p:cNvSpPr/>
          <p:nvPr/>
        </p:nvSpPr>
        <p:spPr>
          <a:xfrm>
            <a:off x="5641920" y="2889360"/>
            <a:ext cx="3181680" cy="13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Kilitleri her zaman aynı sırada al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tryLock(timeout) ile zamanlı deneme yap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Kilitsiz veri yapıları tercih et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Kilitlenmiş kaynakları minimize et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ThreadMXBean ile deadlock tespiti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jstack ile runtime analizi yapılabilir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Atomic Değişkenler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5"/>
          <p:cNvSpPr/>
          <p:nvPr/>
        </p:nvSpPr>
        <p:spPr>
          <a:xfrm>
            <a:off x="365760" y="80460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java.util.concurrent.atomic paketi, lock kullanmadan thread-safe sayaçlar ve değişkenler sağlar. CAS (Compare-And-Swap) donanım talimatlarını kullanır.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6"/>
          <p:cNvSpPr/>
          <p:nvPr/>
        </p:nvSpPr>
        <p:spPr>
          <a:xfrm>
            <a:off x="320040" y="1334880"/>
            <a:ext cx="5028840" cy="274284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7"/>
          <p:cNvSpPr/>
          <p:nvPr/>
        </p:nvSpPr>
        <p:spPr>
          <a:xfrm>
            <a:off x="457200" y="1444680"/>
            <a:ext cx="4772880" cy="25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AtomicInteger counter = new AtomicInteger(0);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Thread-safe artırma (i++ yerine)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int val = counter.incrementAndGet();  // ++i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int old = counter.getAndIncrement();  // i++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counter.addAndGet(5);                  // += 5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Compare-And-Swap (CAS)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boolean success = counter.compareAndSet(10, 20);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Eğer mevcut değer 10 ise 20 yap, true döner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AtomicReference - herhangi bir nesne için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AtomicReference&lt;String&gt; ref =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new AtomicReference&lt;&gt;("başlangıç");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ref.compareAndSet("başlangıç", "güncel");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8"/>
          <p:cNvSpPr/>
          <p:nvPr/>
        </p:nvSpPr>
        <p:spPr>
          <a:xfrm>
            <a:off x="5532120" y="1334880"/>
            <a:ext cx="3382920" cy="1188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9"/>
          <p:cNvSpPr/>
          <p:nvPr/>
        </p:nvSpPr>
        <p:spPr>
          <a:xfrm>
            <a:off x="5532120" y="1334880"/>
            <a:ext cx="3382920" cy="292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10"/>
          <p:cNvSpPr/>
          <p:nvPr/>
        </p:nvSpPr>
        <p:spPr>
          <a:xfrm>
            <a:off x="5641920" y="137160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Atomic Sınıflar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11"/>
          <p:cNvSpPr/>
          <p:nvPr/>
        </p:nvSpPr>
        <p:spPr>
          <a:xfrm>
            <a:off x="5641920" y="1682640"/>
            <a:ext cx="318168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AtomicInteger / AtomicLong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AtomicBoolean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AtomicReference&lt;V&gt;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AtomicIntegerArray / AtomicLongArray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LongAdder (yüksek çekişme için daha hızlı)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12"/>
          <p:cNvSpPr/>
          <p:nvPr/>
        </p:nvSpPr>
        <p:spPr>
          <a:xfrm>
            <a:off x="5532120" y="2615040"/>
            <a:ext cx="3382920" cy="1462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13"/>
          <p:cNvSpPr/>
          <p:nvPr/>
        </p:nvSpPr>
        <p:spPr>
          <a:xfrm>
            <a:off x="5532120" y="2615040"/>
            <a:ext cx="3382920" cy="292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14"/>
          <p:cNvSpPr/>
          <p:nvPr/>
        </p:nvSpPr>
        <p:spPr>
          <a:xfrm>
            <a:off x="5641920" y="265176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synchronized vs Atomic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15"/>
          <p:cNvSpPr/>
          <p:nvPr/>
        </p:nvSpPr>
        <p:spPr>
          <a:xfrm>
            <a:off x="5641920" y="2962800"/>
            <a:ext cx="318168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Atomic: Lock-free, düşük gecikme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Atomic: Tek değişken operasyonları için ideal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synchronized: Bileşik operasyonlar için gerekli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Yüksek çekişmede LongAdder &gt; AtomicLong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AtomicStampedReference: ABA sorununu çözer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Semaphore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5"/>
          <p:cNvSpPr/>
          <p:nvPr/>
        </p:nvSpPr>
        <p:spPr>
          <a:xfrm>
            <a:off x="365760" y="80460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Belirli bir kaynağa eş zamanlı erişimi sınırlandırmak için kullanılır. N adet 'izin' (permit) ile çalışır.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6"/>
          <p:cNvSpPr/>
          <p:nvPr/>
        </p:nvSpPr>
        <p:spPr>
          <a:xfrm>
            <a:off x="320040" y="1261800"/>
            <a:ext cx="5028840" cy="292572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7"/>
          <p:cNvSpPr/>
          <p:nvPr/>
        </p:nvSpPr>
        <p:spPr>
          <a:xfrm>
            <a:off x="457200" y="1371600"/>
            <a:ext cx="4772880" cy="272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Aynı anda en fazla 3 thread veritabanına erişebilir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Semaphore dbAccess = new Semaphore(3);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class DatabaseWorker implements Runnable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public void run()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try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dbAccess.acquire();  // İzin al (bloklar)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// Veritabanına eriş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performQuery();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} catch (InterruptedException e)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Thread.currentThread().interrupt();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} finally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dbAccess.release();  // İzni geri ver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Mutex gibi kullanım (permit=1)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Semaphore mutex = new Semaphore(1);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8"/>
          <p:cNvSpPr/>
          <p:nvPr/>
        </p:nvSpPr>
        <p:spPr>
          <a:xfrm>
            <a:off x="5532120" y="1261800"/>
            <a:ext cx="3382920" cy="1279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9"/>
          <p:cNvSpPr/>
          <p:nvPr/>
        </p:nvSpPr>
        <p:spPr>
          <a:xfrm>
            <a:off x="5532120" y="1261800"/>
            <a:ext cx="3382920" cy="292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10"/>
          <p:cNvSpPr/>
          <p:nvPr/>
        </p:nvSpPr>
        <p:spPr>
          <a:xfrm>
            <a:off x="5641920" y="129852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Temel Metodlar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11"/>
          <p:cNvSpPr/>
          <p:nvPr/>
        </p:nvSpPr>
        <p:spPr>
          <a:xfrm>
            <a:off x="5641920" y="1609200"/>
            <a:ext cx="318168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acquire(): 1 izin al (bloklar)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acquire(n): n izin al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tryAcquire(): İzin dene, bloklamaz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tryAcquire(timeout, unit): Zamanlı deneme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release(): İzni geri ver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availablePermits(): Mevcut izin sayısı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12"/>
          <p:cNvSpPr/>
          <p:nvPr/>
        </p:nvSpPr>
        <p:spPr>
          <a:xfrm>
            <a:off x="5532120" y="2633400"/>
            <a:ext cx="3382920" cy="1554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13"/>
          <p:cNvSpPr/>
          <p:nvPr/>
        </p:nvSpPr>
        <p:spPr>
          <a:xfrm>
            <a:off x="5532120" y="2633400"/>
            <a:ext cx="3382920" cy="2923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14"/>
          <p:cNvSpPr/>
          <p:nvPr/>
        </p:nvSpPr>
        <p:spPr>
          <a:xfrm>
            <a:off x="5641920" y="267012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Kullanım Alanları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15"/>
          <p:cNvSpPr/>
          <p:nvPr/>
        </p:nvSpPr>
        <p:spPr>
          <a:xfrm>
            <a:off x="5641920" y="2980800"/>
            <a:ext cx="318168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Bağlantı havuzu yönetimi (DB, HTTP)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Rate limiting (saniye başına N istek)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Kaynak erişim kontrolü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Binary semaphore → Mutex alternatifi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Thread senkronizasyon noktası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Mutex (Karşılıklı Dışlama)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5"/>
          <p:cNvSpPr/>
          <p:nvPr/>
        </p:nvSpPr>
        <p:spPr>
          <a:xfrm>
            <a:off x="365760" y="80460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Mutex (Mutual Exclusion), yalnızca bir thread'in kritik bölgeye aynı anda erişmesine izin veren kilit mekanizmasıdır.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6"/>
          <p:cNvSpPr/>
          <p:nvPr/>
        </p:nvSpPr>
        <p:spPr>
          <a:xfrm>
            <a:off x="320040" y="1298520"/>
            <a:ext cx="5028840" cy="228564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7"/>
          <p:cNvSpPr/>
          <p:nvPr/>
        </p:nvSpPr>
        <p:spPr>
          <a:xfrm>
            <a:off x="457200" y="1408320"/>
            <a:ext cx="4772880" cy="20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Java'da Mutex implementasyonları: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1. synchronized (en basit mutex)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synchronized (sharedObject) { /* kritik bölge */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2. ReentrantLock (tavsiye edilen)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ReentrantLock mutex = new ReentrantLock();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mutex.lock();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try { /* kritik bölge */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finally { mutex.unlock();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3. Semaphore(1) ile mutex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Semaphore mutex = new Semaphore(1);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mutex.acquire();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try { /* kritik bölge */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finally { mutex.release();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8"/>
          <p:cNvSpPr/>
          <p:nvPr/>
        </p:nvSpPr>
        <p:spPr>
          <a:xfrm>
            <a:off x="5532120" y="1298520"/>
            <a:ext cx="3382920" cy="2285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9"/>
          <p:cNvSpPr/>
          <p:nvPr/>
        </p:nvSpPr>
        <p:spPr>
          <a:xfrm>
            <a:off x="5532120" y="1298520"/>
            <a:ext cx="3382920" cy="292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10"/>
          <p:cNvSpPr/>
          <p:nvPr/>
        </p:nvSpPr>
        <p:spPr>
          <a:xfrm>
            <a:off x="5641920" y="133488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Semaphore vs Mutex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11"/>
          <p:cNvSpPr/>
          <p:nvPr/>
        </p:nvSpPr>
        <p:spPr>
          <a:xfrm>
            <a:off x="5641920" y="1645920"/>
            <a:ext cx="3181680" cy="186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Mutex: Sadece kilidi alan thread bırakabilir (ownership)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Semaphore: Herhangi bir thread release() yapabilir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Mutex: Reentrant olabilir (ReentrantLock)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Semaphore: N&gt;1 ile birden fazla erişim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Mutex → Mutual exclusion için ideal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Semaphore → Kaynak sayma için ideal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12"/>
          <p:cNvSpPr/>
          <p:nvPr/>
        </p:nvSpPr>
        <p:spPr>
          <a:xfrm>
            <a:off x="320040" y="3703320"/>
            <a:ext cx="8503560" cy="7768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13"/>
          <p:cNvSpPr/>
          <p:nvPr/>
        </p:nvSpPr>
        <p:spPr>
          <a:xfrm>
            <a:off x="320040" y="3703320"/>
            <a:ext cx="8503560" cy="292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14"/>
          <p:cNvSpPr/>
          <p:nvPr/>
        </p:nvSpPr>
        <p:spPr>
          <a:xfrm>
            <a:off x="429840" y="3740040"/>
            <a:ext cx="8339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Özet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15"/>
          <p:cNvSpPr/>
          <p:nvPr/>
        </p:nvSpPr>
        <p:spPr>
          <a:xfrm>
            <a:off x="429840" y="4050720"/>
            <a:ext cx="83023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Java'da saf Mutex sınıfı yoktur. synchronized keyword, ReentrantLock veya Semaphore(1) ile mutex davranışı elde edilir. Ownership semantiği için ReentrantLock tercih edilir.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Shape 0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1"/>
          <p:cNvSpPr/>
          <p:nvPr/>
        </p:nvSpPr>
        <p:spPr>
          <a:xfrm>
            <a:off x="0" y="5074920"/>
            <a:ext cx="9143640" cy="63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2"/>
          <p:cNvSpPr/>
          <p:nvPr/>
        </p:nvSpPr>
        <p:spPr>
          <a:xfrm>
            <a:off x="457200" y="1280160"/>
            <a:ext cx="8229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BÖLÜM 8</a:t>
            </a:r>
            <a:endParaRPr lang="tr-T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3"/>
          <p:cNvSpPr/>
          <p:nvPr/>
        </p:nvSpPr>
        <p:spPr>
          <a:xfrm>
            <a:off x="914400" y="2651760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9CCE3"/>
                </a:solidFill>
                <a:effectLst/>
                <a:uFillTx/>
                <a:latin typeface="Calibri"/>
                <a:ea typeface="Calibri"/>
              </a:rPr>
              <a:t>ForkJoinPool: Paralel Görev Bölümleme</a:t>
            </a:r>
            <a:endParaRPr lang="tr-T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ForkJoinPool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5"/>
          <p:cNvSpPr/>
          <p:nvPr/>
        </p:nvSpPr>
        <p:spPr>
          <a:xfrm>
            <a:off x="365760" y="80460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Büyük görevleri küçük alt görevlere bölen (fork) ve sonuçları birleştiren (join) paralel bir çerçevedir. Work-stealing algoritması kullanır.</a:t>
            </a:r>
            <a:endParaRPr lang="tr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6"/>
          <p:cNvSpPr/>
          <p:nvPr/>
        </p:nvSpPr>
        <p:spPr>
          <a:xfrm>
            <a:off x="320040" y="1334880"/>
            <a:ext cx="5028840" cy="283428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7"/>
          <p:cNvSpPr/>
          <p:nvPr/>
        </p:nvSpPr>
        <p:spPr>
          <a:xfrm>
            <a:off x="457200" y="1444680"/>
            <a:ext cx="4772880" cy="26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class SumTask extends RecursiveTask&lt;Long&gt;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private final long[] array;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private final int start, end;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static final int THRESHOLD = 1000;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@Override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protected Long compute()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if (end - start &lt;= THRESHOLD) {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long sum = 0;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for (int i = start; i &lt; end; i++)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    sum += array[i];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    return sum;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int mid = (start + end) / 2;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SumTask left = new SumTask(array, start, mid);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SumTask right = new SumTask(array, mid, end);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left.fork();             // Paralel başlat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    return right.compute() + left.join(); // Birleştir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8"/>
          <p:cNvSpPr/>
          <p:nvPr/>
        </p:nvSpPr>
        <p:spPr>
          <a:xfrm>
            <a:off x="5532120" y="1334880"/>
            <a:ext cx="3382920" cy="1371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9"/>
          <p:cNvSpPr/>
          <p:nvPr/>
        </p:nvSpPr>
        <p:spPr>
          <a:xfrm>
            <a:off x="5532120" y="1334880"/>
            <a:ext cx="3382920" cy="292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10"/>
          <p:cNvSpPr/>
          <p:nvPr/>
        </p:nvSpPr>
        <p:spPr>
          <a:xfrm>
            <a:off x="5641920" y="137160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ForkJoin Bileşenleri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11"/>
          <p:cNvSpPr/>
          <p:nvPr/>
        </p:nvSpPr>
        <p:spPr>
          <a:xfrm>
            <a:off x="5641920" y="1682640"/>
            <a:ext cx="318168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ForkJoinPool: Thread havuzu (work-stealing)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RecursiveTask&lt;V&gt;: Sonuç döndüren görev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RecursiveAction: Sonuçsuz görev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fork(): Asenkron alt görev başlat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join(): Alt görev sonucunu bekle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12"/>
          <p:cNvSpPr/>
          <p:nvPr/>
        </p:nvSpPr>
        <p:spPr>
          <a:xfrm>
            <a:off x="5532120" y="2797920"/>
            <a:ext cx="3382920" cy="1371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13"/>
          <p:cNvSpPr/>
          <p:nvPr/>
        </p:nvSpPr>
        <p:spPr>
          <a:xfrm>
            <a:off x="5532120" y="2797920"/>
            <a:ext cx="3382920" cy="2923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14"/>
          <p:cNvSpPr/>
          <p:nvPr/>
        </p:nvSpPr>
        <p:spPr>
          <a:xfrm>
            <a:off x="5641920" y="2834640"/>
            <a:ext cx="321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Work-Stealing Algoritması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15"/>
          <p:cNvSpPr/>
          <p:nvPr/>
        </p:nvSpPr>
        <p:spPr>
          <a:xfrm>
            <a:off x="5641920" y="3145680"/>
            <a:ext cx="318168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Her thread'in çalışma kuyruğu vardır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Boşta kalan thread, diğerinin kuyruğundan iş çalar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CPU kullanımı maksimize edilir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Java 8+ Stream.parallel() bu havuzu kullanır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commonPool() varsayılan paylaşımlı havuzdur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2"/>
          <p:cNvSpPr/>
          <p:nvPr/>
        </p:nvSpPr>
        <p:spPr>
          <a:xfrm>
            <a:off x="365760" y="7308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ForkJoinPool — Kullanım &amp; En İyi Pratikler</a:t>
            </a:r>
            <a:endParaRPr lang="tr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3"/>
          <p:cNvSpPr/>
          <p:nvPr/>
        </p:nvSpPr>
        <p:spPr>
          <a:xfrm>
            <a:off x="0" y="4956120"/>
            <a:ext cx="9143640" cy="19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4"/>
          <p:cNvSpPr/>
          <p:nvPr/>
        </p:nvSpPr>
        <p:spPr>
          <a:xfrm>
            <a:off x="0" y="496512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C3C7"/>
                </a:solidFill>
                <a:effectLst/>
                <a:uFillTx/>
                <a:latin typeface="Calibri"/>
              </a:rPr>
              <a:t>Java Multithreading | Kurumsal Eğitim</a:t>
            </a:r>
            <a:endParaRPr lang="tr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5"/>
          <p:cNvSpPr/>
          <p:nvPr/>
        </p:nvSpPr>
        <p:spPr>
          <a:xfrm>
            <a:off x="320040" y="822960"/>
            <a:ext cx="5028840" cy="1919880"/>
          </a:xfrm>
          <a:prstGeom prst="rect">
            <a:avLst/>
          </a:prstGeom>
          <a:solidFill>
            <a:srgbClr val="1E2D3D"/>
          </a:solidFill>
          <a:ln w="12700">
            <a:solidFill>
              <a:srgbClr val="2E86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6"/>
          <p:cNvSpPr/>
          <p:nvPr/>
        </p:nvSpPr>
        <p:spPr>
          <a:xfrm>
            <a:off x="457200" y="932760"/>
            <a:ext cx="4772880" cy="17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ForkJoinPool oluşturma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ForkJoinPool pool = new ForkJoinPool(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Runtime.getRuntime().availableProcessors()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Görev çalıştırma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long result = pool.invoke(new SumTask(array, 0, array.length));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// Java 8 Parallel Streams (commonPool kullanır)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long sum = LongStream.rangeClosed(1, 1_000_000)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.parallel()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CCE3"/>
                </a:solidFill>
                <a:effectLst/>
                <a:uFillTx/>
                <a:latin typeface="Consolas"/>
                <a:ea typeface="Consolas"/>
              </a:rPr>
              <a:t>    .sum();</a:t>
            </a:r>
            <a:endParaRPr lang="tr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7"/>
          <p:cNvSpPr/>
          <p:nvPr/>
        </p:nvSpPr>
        <p:spPr>
          <a:xfrm>
            <a:off x="320040" y="2853000"/>
            <a:ext cx="4160160" cy="11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8"/>
          <p:cNvSpPr/>
          <p:nvPr/>
        </p:nvSpPr>
        <p:spPr>
          <a:xfrm>
            <a:off x="320040" y="2853000"/>
            <a:ext cx="4160160" cy="292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9"/>
          <p:cNvSpPr/>
          <p:nvPr/>
        </p:nvSpPr>
        <p:spPr>
          <a:xfrm>
            <a:off x="429840" y="2889360"/>
            <a:ext cx="399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Doğru Threshold Seçimi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0"/>
          <p:cNvSpPr/>
          <p:nvPr/>
        </p:nvSpPr>
        <p:spPr>
          <a:xfrm>
            <a:off x="429840" y="3200400"/>
            <a:ext cx="39589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Çok küçük: Overhead artar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Çok büyük: Paralellik azalır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Benchmark ile optimize edin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11"/>
          <p:cNvSpPr/>
          <p:nvPr/>
        </p:nvSpPr>
        <p:spPr>
          <a:xfrm>
            <a:off x="4663440" y="2853000"/>
            <a:ext cx="4160160" cy="11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12"/>
          <p:cNvSpPr/>
          <p:nvPr/>
        </p:nvSpPr>
        <p:spPr>
          <a:xfrm>
            <a:off x="4663440" y="2853000"/>
            <a:ext cx="4160160" cy="2923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13"/>
          <p:cNvSpPr/>
          <p:nvPr/>
        </p:nvSpPr>
        <p:spPr>
          <a:xfrm>
            <a:off x="4773240" y="2889360"/>
            <a:ext cx="399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RecursiveTask vs Action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14"/>
          <p:cNvSpPr/>
          <p:nvPr/>
        </p:nvSpPr>
        <p:spPr>
          <a:xfrm>
            <a:off x="4773240" y="3200400"/>
            <a:ext cx="39589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RecursiveTask&lt;V&gt;: Sonuç dönüyorsa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RecursiveAction: Void işlemler için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FutureTask ile entegre edilebilir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15"/>
          <p:cNvSpPr/>
          <p:nvPr/>
        </p:nvSpPr>
        <p:spPr>
          <a:xfrm>
            <a:off x="320040" y="4133160"/>
            <a:ext cx="4160160" cy="11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16"/>
          <p:cNvSpPr/>
          <p:nvPr/>
        </p:nvSpPr>
        <p:spPr>
          <a:xfrm>
            <a:off x="320040" y="4133160"/>
            <a:ext cx="4160160" cy="292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17"/>
          <p:cNvSpPr/>
          <p:nvPr/>
        </p:nvSpPr>
        <p:spPr>
          <a:xfrm>
            <a:off x="429840" y="4169520"/>
            <a:ext cx="399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Blocking İşlemlerden Kaçının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18"/>
          <p:cNvSpPr/>
          <p:nvPr/>
        </p:nvSpPr>
        <p:spPr>
          <a:xfrm>
            <a:off x="429840" y="4480560"/>
            <a:ext cx="39589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ForkJoin thread'leri CPU-yoğun işler için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I/O engelleyici işlemlerde performans düşer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managedBlock() kullanılabilir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19"/>
          <p:cNvSpPr/>
          <p:nvPr/>
        </p:nvSpPr>
        <p:spPr>
          <a:xfrm>
            <a:off x="4663440" y="4133160"/>
            <a:ext cx="4160160" cy="11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20"/>
          <p:cNvSpPr/>
          <p:nvPr/>
        </p:nvSpPr>
        <p:spPr>
          <a:xfrm>
            <a:off x="4663440" y="4133160"/>
            <a:ext cx="4160160" cy="292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21"/>
          <p:cNvSpPr/>
          <p:nvPr/>
        </p:nvSpPr>
        <p:spPr>
          <a:xfrm>
            <a:off x="4773240" y="4169520"/>
            <a:ext cx="399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commonPool Dikkat!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22"/>
          <p:cNvSpPr/>
          <p:nvPr/>
        </p:nvSpPr>
        <p:spPr>
          <a:xfrm>
            <a:off x="4773240" y="4480560"/>
            <a:ext cx="39589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Paylaşımlı havuz tüm paralel işlemleri etkiler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Uzun çalışan işler diğerlerini bloklar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Sensitive uygulamalarda özel pool tercih edin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Shape 0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1"/>
          <p:cNvSpPr/>
          <p:nvPr/>
        </p:nvSpPr>
        <p:spPr>
          <a:xfrm>
            <a:off x="0" y="5074920"/>
            <a:ext cx="9143640" cy="63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2"/>
          <p:cNvSpPr/>
          <p:nvPr/>
        </p:nvSpPr>
        <p:spPr>
          <a:xfrm>
            <a:off x="457200" y="59436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Teşekkürler</a:t>
            </a:r>
            <a:endParaRPr lang="tr-TR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3"/>
          <p:cNvSpPr/>
          <p:nvPr/>
        </p:nvSpPr>
        <p:spPr>
          <a:xfrm>
            <a:off x="457200" y="16002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A9CCE3"/>
                </a:solidFill>
                <a:effectLst/>
                <a:uFillTx/>
                <a:latin typeface="Calibri"/>
              </a:rPr>
              <a:t>Java Multithreading — Konu Özeti</a:t>
            </a:r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4"/>
          <p:cNvSpPr/>
          <p:nvPr/>
        </p:nvSpPr>
        <p:spPr>
          <a:xfrm>
            <a:off x="457200" y="2148840"/>
            <a:ext cx="4160160" cy="56664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5"/>
          <p:cNvSpPr/>
          <p:nvPr/>
        </p:nvSpPr>
        <p:spPr>
          <a:xfrm>
            <a:off x="457200" y="2148840"/>
            <a:ext cx="4160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Thread Oluşturma &amp; Yönetimi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6"/>
          <p:cNvSpPr/>
          <p:nvPr/>
        </p:nvSpPr>
        <p:spPr>
          <a:xfrm>
            <a:off x="4800600" y="2148840"/>
            <a:ext cx="4160160" cy="56664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7"/>
          <p:cNvSpPr/>
          <p:nvPr/>
        </p:nvSpPr>
        <p:spPr>
          <a:xfrm>
            <a:off x="4800600" y="2148840"/>
            <a:ext cx="4160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Senkronizasyon &amp; Kilitler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8"/>
          <p:cNvSpPr/>
          <p:nvPr/>
        </p:nvSpPr>
        <p:spPr>
          <a:xfrm>
            <a:off x="457200" y="2862000"/>
            <a:ext cx="4160160" cy="56664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9"/>
          <p:cNvSpPr/>
          <p:nvPr/>
        </p:nvSpPr>
        <p:spPr>
          <a:xfrm>
            <a:off x="457200" y="2862000"/>
            <a:ext cx="4160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Executor Service &amp; Thread Pools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10"/>
          <p:cNvSpPr/>
          <p:nvPr/>
        </p:nvSpPr>
        <p:spPr>
          <a:xfrm>
            <a:off x="4800600" y="2862000"/>
            <a:ext cx="4160160" cy="56664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11"/>
          <p:cNvSpPr/>
          <p:nvPr/>
        </p:nvSpPr>
        <p:spPr>
          <a:xfrm>
            <a:off x="4800600" y="2862000"/>
            <a:ext cx="4160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Callable, Future &amp; Koleksiyonlar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12"/>
          <p:cNvSpPr/>
          <p:nvPr/>
        </p:nvSpPr>
        <p:spPr>
          <a:xfrm>
            <a:off x="457200" y="3575160"/>
            <a:ext cx="4160160" cy="56664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13"/>
          <p:cNvSpPr/>
          <p:nvPr/>
        </p:nvSpPr>
        <p:spPr>
          <a:xfrm>
            <a:off x="457200" y="3575160"/>
            <a:ext cx="4160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Deadlock, Visibility &amp; Atomic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14"/>
          <p:cNvSpPr/>
          <p:nvPr/>
        </p:nvSpPr>
        <p:spPr>
          <a:xfrm>
            <a:off x="4800600" y="3575160"/>
            <a:ext cx="4160160" cy="56664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15"/>
          <p:cNvSpPr/>
          <p:nvPr/>
        </p:nvSpPr>
        <p:spPr>
          <a:xfrm>
            <a:off x="4800600" y="3575160"/>
            <a:ext cx="4160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Semaphore, Mutex &amp; ForkJoin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16"/>
          <p:cNvSpPr/>
          <p:nvPr/>
        </p:nvSpPr>
        <p:spPr>
          <a:xfrm>
            <a:off x="0" y="480060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46E7A"/>
                </a:solidFill>
                <a:effectLst/>
                <a:uFillTx/>
                <a:latin typeface="Calibri"/>
              </a:rPr>
              <a:t>Java Multithreading | Kurumsal Eğitim Serisi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LibreOffice/26.2.1.2$Windows_X86_64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2026-03-09T13:33:14Z</dcterms:created>
  <dc:creator>PptxGenJS</dc:creator>
  <dc:description/>
  <dc:language>tr-TR</dc:language>
  <cp:lastModifiedBy/>
  <dcterms:modified xsi:type="dcterms:W3CDTF">2026-03-10T10:20:15Z</dcterms:modified>
  <cp:revision>2</cp:revision>
  <dc:subject>PptxGenJS Presentation</dc:subject>
  <dc:title>Java Multithreading - Kapsamlı Rehber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40</vt:i4>
  </property>
  <property fmtid="{D5CDD505-2E9C-101B-9397-08002B2CF9AE}" pid="3" name="PresentationFormat">
    <vt:lpwstr>On-screen Show (16:9)</vt:lpwstr>
  </property>
  <property fmtid="{D5CDD505-2E9C-101B-9397-08002B2CF9AE}" pid="4" name="Slides">
    <vt:i4>40</vt:i4>
  </property>
</Properties>
</file>